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8B4FF"/>
                </a:solidFill>
              </a:defRPr>
            </a:pPr>
            <a:r>
              <a:t>GROUP MINI PROJECT | PEMBELAJARAN MESIN &amp; MACHINE LEARNING (PMML)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Klasifikasi Diagnosis Kanker Payudara Menggunakan Deep Neural Network &amp; Residual MLP Berbasis Secondary Dataset UCI</a:t>
            </a:r>
          </a:p>
          <a:p>
            <a:pPr>
              <a:spcBef>
                <a:spcPts val="800"/>
              </a:spcBef>
              <a:defRPr sz="1400" i="1">
                <a:solidFill>
                  <a:srgbClr val="DCE6F5"/>
                </a:solidFill>
              </a:defRPr>
            </a:pPr>
            <a:r>
              <a:t>Dosen Pengampu: Afiahayati, S.Kom., M.Cs., Ph.D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2542032" cy="2468880"/>
          </a:xfrm>
          <a:prstGeom prst="roundRect">
            <a:avLst/>
          </a:prstGeom>
          <a:solidFill>
            <a:srgbClr val="192D5A"/>
          </a:solidFill>
          <a:ln w="19050"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950" b="1">
                <a:solidFill>
                  <a:srgbClr val="78B4FF"/>
                </a:solidFill>
              </a:defRPr>
            </a:pPr>
            <a:r>
              <a:t>ANGGOTA 1</a:t>
            </a:r>
          </a:p>
          <a:p>
            <a:pPr>
              <a:spcBef>
                <a:spcPts val="500"/>
              </a:spcBef>
              <a:defRPr sz="1300" b="1">
                <a:solidFill>
                  <a:srgbClr val="FFFFFF"/>
                </a:solidFill>
              </a:defRPr>
            </a:pPr>
            <a:r>
              <a:t>FRANS ALWAN PURBA</a:t>
            </a:r>
          </a:p>
          <a:p>
            <a:pPr>
              <a:spcBef>
                <a:spcPts val="400"/>
              </a:spcBef>
              <a:defRPr sz="1100" b="1">
                <a:solidFill>
                  <a:srgbClr val="F5B93C"/>
                </a:solidFill>
              </a:defRPr>
            </a:pPr>
            <a:r>
              <a:t>25/563545/PPA/07116</a:t>
            </a:r>
          </a:p>
          <a:p>
            <a:pPr>
              <a:spcBef>
                <a:spcPts val="800"/>
              </a:spcBef>
              <a:defRPr sz="950">
                <a:solidFill>
                  <a:srgbClr val="C8D7EB"/>
                </a:solidFill>
              </a:defRPr>
            </a:pPr>
            <a:r>
              <a:t>Magister Ilmu Komputer</a:t>
            </a:r>
            <a:br/>
            <a:r>
              <a:t>Universitas Gadjah Mada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3017520"/>
            <a:ext cx="2542032" cy="2468880"/>
          </a:xfrm>
          <a:prstGeom prst="roundRect">
            <a:avLst/>
          </a:prstGeom>
          <a:solidFill>
            <a:srgbClr val="192D5A"/>
          </a:solidFill>
          <a:ln w="19050"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950" b="1">
                <a:solidFill>
                  <a:srgbClr val="78B4FF"/>
                </a:solidFill>
              </a:defRPr>
            </a:pPr>
            <a:r>
              <a:t>ANGGOTA 2</a:t>
            </a:r>
          </a:p>
          <a:p>
            <a:pPr>
              <a:spcBef>
                <a:spcPts val="500"/>
              </a:spcBef>
              <a:defRPr sz="1300" b="1">
                <a:solidFill>
                  <a:srgbClr val="FFFFFF"/>
                </a:solidFill>
              </a:defRPr>
            </a:pPr>
            <a:r>
              <a:t>Muhammad Fikry Rizal</a:t>
            </a:r>
          </a:p>
          <a:p>
            <a:pPr>
              <a:spcBef>
                <a:spcPts val="400"/>
              </a:spcBef>
              <a:defRPr sz="1100" b="1">
                <a:solidFill>
                  <a:srgbClr val="F5B93C"/>
                </a:solidFill>
              </a:defRPr>
            </a:pPr>
            <a:r>
              <a:t>25/573936/PPA/07229</a:t>
            </a:r>
          </a:p>
          <a:p>
            <a:pPr>
              <a:spcBef>
                <a:spcPts val="800"/>
              </a:spcBef>
              <a:defRPr sz="950">
                <a:solidFill>
                  <a:srgbClr val="C8D7EB"/>
                </a:solidFill>
              </a:defRPr>
            </a:pPr>
            <a:r>
              <a:t>Magister Ilmu Komputer</a:t>
            </a:r>
            <a:br/>
            <a:r>
              <a:t>Universitas Gadjah Mada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3017520"/>
            <a:ext cx="2542032" cy="2468880"/>
          </a:xfrm>
          <a:prstGeom prst="roundRect">
            <a:avLst/>
          </a:prstGeom>
          <a:solidFill>
            <a:srgbClr val="192D5A"/>
          </a:solidFill>
          <a:ln w="19050"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950" b="1">
                <a:solidFill>
                  <a:srgbClr val="78B4FF"/>
                </a:solidFill>
              </a:defRPr>
            </a:pPr>
            <a:r>
              <a:t>ANGGOTA 3</a:t>
            </a:r>
          </a:p>
          <a:p>
            <a:pPr>
              <a:spcBef>
                <a:spcPts val="500"/>
              </a:spcBef>
              <a:defRPr sz="1300" b="1">
                <a:solidFill>
                  <a:srgbClr val="FFFFFF"/>
                </a:solidFill>
              </a:defRPr>
            </a:pPr>
            <a:r>
              <a:t>Rafel Romero Hirawanto</a:t>
            </a:r>
          </a:p>
          <a:p>
            <a:pPr>
              <a:spcBef>
                <a:spcPts val="400"/>
              </a:spcBef>
              <a:defRPr sz="1100" b="1">
                <a:solidFill>
                  <a:srgbClr val="F5B93C"/>
                </a:solidFill>
              </a:defRPr>
            </a:pPr>
            <a:r>
              <a:t>25/573260/PPA/07216</a:t>
            </a:r>
          </a:p>
          <a:p>
            <a:pPr>
              <a:spcBef>
                <a:spcPts val="800"/>
              </a:spcBef>
              <a:defRPr sz="950">
                <a:solidFill>
                  <a:srgbClr val="C8D7EB"/>
                </a:solidFill>
              </a:defRPr>
            </a:pPr>
            <a:r>
              <a:t>Magister Ilmu Komputer</a:t>
            </a:r>
            <a:br/>
            <a:r>
              <a:t>Universitas Gadjah Mada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3017520"/>
            <a:ext cx="2542032" cy="2468880"/>
          </a:xfrm>
          <a:prstGeom prst="roundRect">
            <a:avLst/>
          </a:prstGeom>
          <a:solidFill>
            <a:srgbClr val="192D5A"/>
          </a:solidFill>
          <a:ln w="19050"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950" b="1">
                <a:solidFill>
                  <a:srgbClr val="78B4FF"/>
                </a:solidFill>
              </a:defRPr>
            </a:pPr>
            <a:r>
              <a:t>ANGGOTA 4</a:t>
            </a:r>
          </a:p>
          <a:p>
            <a:pPr>
              <a:spcBef>
                <a:spcPts val="500"/>
              </a:spcBef>
              <a:defRPr sz="1300" b="1">
                <a:solidFill>
                  <a:srgbClr val="FFFFFF"/>
                </a:solidFill>
              </a:defRPr>
            </a:pPr>
            <a:r>
              <a:t>Sidikara Hakim</a:t>
            </a:r>
          </a:p>
          <a:p>
            <a:pPr>
              <a:spcBef>
                <a:spcPts val="400"/>
              </a:spcBef>
              <a:defRPr sz="1100" b="1">
                <a:solidFill>
                  <a:srgbClr val="F5B93C"/>
                </a:solidFill>
              </a:defRPr>
            </a:pPr>
            <a:r>
              <a:t>25/573720/PPA/07221</a:t>
            </a:r>
          </a:p>
          <a:p>
            <a:pPr>
              <a:spcBef>
                <a:spcPts val="800"/>
              </a:spcBef>
              <a:defRPr sz="950">
                <a:solidFill>
                  <a:srgbClr val="C8D7EB"/>
                </a:solidFill>
              </a:defRPr>
            </a:pPr>
            <a:r>
              <a:t>Magister Ilmu Komputer</a:t>
            </a:r>
            <a:br/>
            <a:r>
              <a:t>Universitas Gadjah 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FD2"/>
                </a:solidFill>
              </a:defRPr>
            </a:pPr>
            <a:r>
              <a:t>Presentasi Ujian / Evaluasi Mini Project | Tanggal Presentasi: Friday, 16 Oct 2026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GROUP WORKLOAD &amp; TASK ALLOCATION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Jobdesk &amp; Pembagian Peran Anggota Kelompok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1100" b="1">
                <a:solidFill>
                  <a:srgbClr val="191E28"/>
                </a:solidFill>
              </a:defRPr>
            </a:pPr>
            <a:r>
              <a:t>FRANS ALWAN PURBA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25/563545/PPA/07116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00" b="1">
                <a:solidFill>
                  <a:srgbClr val="1E5AA0"/>
                </a:solidFill>
              </a:defRPr>
            </a:pPr>
            <a:r>
              <a:t>DATA PREPROCESSING &amp; VALIDATION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Eksplorasi dataset sekunder UCI Breast Cancer Wisconsin (569 sampel, 30 fitur).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Desain skema Stratified 5-Fold Cross-Validation dan Train-Test split (80:20).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Standardisasi fitur (StandardScaler) strictly pada train fold anti data leakage.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Implementasi arsitektur Model 1 (Baseline Shallow MLP) sebagai standar komparasi.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1100" b="1">
                <a:solidFill>
                  <a:srgbClr val="191E28"/>
                </a:solidFill>
              </a:defRPr>
            </a:pPr>
            <a:r>
              <a:t>Muhammad Fikry Rizal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25/573936/PPA/07229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00" b="1">
                <a:solidFill>
                  <a:srgbClr val="148250"/>
                </a:solidFill>
              </a:defRPr>
            </a:pPr>
            <a:r>
              <a:t>DEEP MLP &amp; OPTIMIZER TUNING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Perancangan Deep MLP (3 hidden layers: 128-64-32) untuk representasi fitur.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Eksperimen komparasi optimizers (Adam, RMSprop, SGD Nesterov Momentum).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Analisis sensitivitas learning rate (0.01, 0.001, 0.0001) terhadap konvergensi.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Penerapan dynamic learning rate scheduler (ReduceLROnPlateau) &amp; early stopping.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1100" b="1">
                <a:solidFill>
                  <a:srgbClr val="191E28"/>
                </a:solidFill>
              </a:defRPr>
            </a:pPr>
            <a:r>
              <a:t>Rafel Romero Hirawanto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25/573260/PPA/07216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00" b="1">
                <a:solidFill>
                  <a:srgbClr val="DC6E14"/>
                </a:solidFill>
              </a:defRPr>
            </a:pPr>
            <a:r>
              <a:t>REGULARIZATION &amp; RESIDUAL NETWORK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Desain Regularized Deep MLP dengan Batch Normalization, Dropout, &amp; L2 Decay.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Implementasi arsitektur mutakhir Deep Residual MLP (Res-MLP) dengan skip connection.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Integrasi fungsi aktivasi non-linear GELU dan Layer Normalization pada blok residual.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Analisis mitigasi overfitting dan reduksi internal covariate shift antar-layer.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645920"/>
            <a:ext cx="25420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1100" b="1">
                <a:solidFill>
                  <a:srgbClr val="191E28"/>
                </a:solidFill>
              </a:defRPr>
            </a:pPr>
            <a:r>
              <a:t>Sidikara Hakim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25/573720/PPA/07221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00" b="1">
                <a:solidFill>
                  <a:srgbClr val="8C3296"/>
                </a:solidFill>
              </a:defRPr>
            </a:pPr>
            <a:r>
              <a:t>CLINICAL EVALUATION &amp; PRESENTATION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Evaluasi metrik diagnostik komprehensif (Accuracy, Recall, Specificity, F1, ROC-AUC).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Analisis sensitivitas klinis False Negative vs False Positive pada data uji unseen.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Generasi visualisasi saintifik resolusi tinggi (Learning Curves, Confusion Matrix, ROC).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Penyusunan slide presentasi profesional 12 halaman dan dokumentasi repositori.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PROBLEM FORMULATION &amp; CLINICAL CONTEXT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Deskripsi Kasus &amp; Signifikansi Klinis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E41"/>
                </a:solidFill>
              </a:defRPr>
            </a:pPr>
            <a:r>
              <a:t>Latar Belakang Klinis</a:t>
            </a:r>
          </a:p>
          <a:p>
            <a:pPr>
              <a:spcBef>
                <a:spcPts val="800"/>
              </a:spcBef>
              <a:defRPr sz="1150" b="1">
                <a:solidFill>
                  <a:srgbClr val="1E5AA0"/>
                </a:solidFill>
              </a:defRPr>
            </a:pPr>
            <a:r>
              <a:t>► Epidemiologi Kanker Payudara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Kanker payudara merupakan penyebab mortalitas akibat kanker tertinggi pada wanita di seluruh dunia. Deteksi dini dan diagnosis yang akurat sangat menentukan tingkat kelangsungan hidup (survival rate) pasien.</a:t>
            </a:r>
          </a:p>
          <a:p>
            <a:pPr>
              <a:spcBef>
                <a:spcPts val="800"/>
              </a:spcBef>
              <a:defRPr sz="1150" b="1">
                <a:solidFill>
                  <a:srgbClr val="1E5AA0"/>
                </a:solidFill>
              </a:defRPr>
            </a:pPr>
            <a:r>
              <a:t>► Prosedur Fine Needle Aspirate (FNA)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Biopsi FNA mengambil sampel sel tumor cairan payudara. Morfologi inti sel kemudian dianalisis melalui citra mikroskopik digital untuk menentukan status tumor.</a:t>
            </a:r>
          </a:p>
          <a:p>
            <a:pPr>
              <a:spcBef>
                <a:spcPts val="800"/>
              </a:spcBef>
              <a:defRPr sz="1150" b="1">
                <a:solidFill>
                  <a:srgbClr val="1E5AA0"/>
                </a:solidFill>
              </a:defRPr>
            </a:pPr>
            <a:r>
              <a:t>► Tantangan Sensitivitas &amp; False Negative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Dalam konteks onkologi, kesalahan diagnosis False Negative (pasien kanker ganas diklasifikasikan sebagai tumor jinak) berakibat sangat fatal karena menunda terapi kritis pasien.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E41"/>
                </a:solidFill>
              </a:defRPr>
            </a:pPr>
            <a:r>
              <a:t>Peran Deep Learning &amp; Tujuan Komputasi</a:t>
            </a:r>
          </a:p>
          <a:p>
            <a:pPr>
              <a:spcBef>
                <a:spcPts val="800"/>
              </a:spcBef>
              <a:defRPr sz="1150" b="1">
                <a:solidFill>
                  <a:srgbClr val="148250"/>
                </a:solidFill>
              </a:defRPr>
            </a:pPr>
            <a:r>
              <a:t>► Kompleksitas Non-Linear Fitur Morfologis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Hubungan antara 30 fitur klinis (ukuran inti sel, tekstur, kecekungan, keliling, simetri) bersifat interaktif dan non-linear tinggi yang sulit ditangkap secara optimal oleh model linier sederhana.</a:t>
            </a:r>
          </a:p>
          <a:p>
            <a:pPr>
              <a:spcBef>
                <a:spcPts val="800"/>
              </a:spcBef>
              <a:defRPr sz="1150" b="1">
                <a:solidFill>
                  <a:srgbClr val="148250"/>
                </a:solidFill>
              </a:defRPr>
            </a:pPr>
            <a:r>
              <a:t>► Kemampuan Representasi Hierarkis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Deep Neural Networks (DNN) mampu mengekstraksi kombinasi fitur abstrak bertingkat (feature representations) dari data tabular berdimensi tinggi.</a:t>
            </a:r>
          </a:p>
          <a:p>
            <a:pPr>
              <a:spcBef>
                <a:spcPts val="800"/>
              </a:spcBef>
              <a:defRPr sz="1150" b="1">
                <a:solidFill>
                  <a:srgbClr val="148250"/>
                </a:solidFill>
              </a:defRPr>
            </a:pPr>
            <a:r>
              <a:t>► Tujuan Penelitian Mini Project</a:t>
            </a:r>
          </a:p>
          <a:p>
            <a:pPr>
              <a:spcBef>
                <a:spcPts val="200"/>
              </a:spcBef>
              <a:defRPr sz="1050">
                <a:solidFill>
                  <a:srgbClr val="191E28"/>
                </a:solidFill>
              </a:defRPr>
            </a:pPr>
            <a:r>
              <a:t>1. Mengembangkan dan membandingkan 4 arsitektur neural network (Baseline, Deep, Regularized, dan Residual MLP).</a:t>
            </a:r>
            <a:br/>
            <a:r>
              <a:t>2. Menganalisis efektivitas Batch Normalization, Dropout, dan Skip Connection dalam mencegah overfitting.</a:t>
            </a:r>
            <a:br/>
            <a:r>
              <a:t>3. Menemukan arsitektur terbaik dengan trade-off akurasi tinggi dan sensitivitas (Recall) optimal.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DATASET CHARACTERISTICS &amp; VALIDATION SETUP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Deskripsi Dataset, Preprocessing, &amp; Skema K-Fold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E41"/>
                </a:solidFill>
              </a:defRPr>
            </a:pPr>
            <a:r>
              <a:t>Karakteristik Secondary Dataset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Sumber Dataset: UCI Machine Learning Repository: Breast Cancer Wisconsin Diagnostic (Wolberg, Street, Mangasarian).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Dimensi Data: 569 sampel pasien dengan 30 fitur klinis kontinu (tanpa missing values).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Distribusi Target: 357 Benign (Jinak / 0 = 62.7%) dan 212 Malignant (Ganas / 1 = 37.3%).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Karakteristik Fitur: 10 atribut inti (radius, texture, perimeter, area, smoothness, compactness, concavity, concave points, symmetry, fractal dimension) dihitung dalam 3 skala: Mean, Standard Error, dan Worst.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Skema Data Splitting: 80% Training-Validation (455 sampel) dan 20% Holdout Test (114 sampel) dengan Stratified Split untuk menjaga rasio kelas.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Skema Validasi K-Fold: Stratified 5-Fold Cross-Validation pada set training-val untuk validasi objektif dan penilaian varians model.</a:t>
            </a:r>
          </a:p>
          <a:p>
            <a:pPr>
              <a:spcBef>
                <a:spcPts val="400"/>
              </a:spcBef>
              <a:defRPr sz="1000">
                <a:solidFill>
                  <a:srgbClr val="191E28"/>
                </a:solidFill>
              </a:defRPr>
            </a:pPr>
            <a:r>
              <a:t>• Pencegahan Data Leakage: StandardScaler di-fit secara ketat hanya pada training set fold, lalu diterapkan pada validation/test set.</a:t>
            </a:r>
          </a:p>
        </p:txBody>
      </p:sp>
      <p:pic>
        <p:nvPicPr>
          <p:cNvPr id="6" name="Picture 5" descr="fig1_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486400" cy="1620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MODEL ARCHITECTURES &amp; TOPOLOGY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Arsitektur Neural Network &amp; Deep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32365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1E5AA0"/>
                </a:solidFill>
              </a:defRPr>
            </a:pPr>
            <a:r>
              <a:t>1. Baseline MLP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Shallow Feedforward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1 Hidden: Dense(64, ReLU)</a:t>
            </a:r>
            <a:br/>
            <a:r>
              <a:t>• Output: Dense(1, Sigmoid)</a:t>
            </a:r>
            <a:br/>
            <a:r>
              <a:t>• Parameter: ~1,985</a:t>
            </a:r>
            <a:br/>
            <a:r>
              <a:t>• Fungsi: Baseline non-linear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1E5AA0"/>
                </a:solidFill>
              </a:defRPr>
            </a:pPr>
            <a:r>
              <a:t>2. Deep MLP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Deep Hierarchical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3 Hidden: Dense(128)-64-32</a:t>
            </a:r>
            <a:br/>
            <a:r>
              <a:t>• Aktivasi: ReLU berurutan</a:t>
            </a:r>
            <a:br/>
            <a:r>
              <a:t>• Parameter: ~14,529</a:t>
            </a:r>
            <a:br/>
            <a:r>
              <a:t>• Menguji kapasitas representasi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1E5AA0"/>
                </a:solidFill>
              </a:defRPr>
            </a:pPr>
            <a:r>
              <a:t>3. Regularized MLP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Batch Normalization + Dropout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3 Layer + BN + Dropout</a:t>
            </a:r>
            <a:br/>
            <a:r>
              <a:t>• Rate: 0.3, 0.2, 0.1</a:t>
            </a:r>
            <a:br/>
            <a:r>
              <a:t>• L2 Regularization (1e-4)</a:t>
            </a:r>
            <a:br/>
            <a:r>
              <a:t>• Menekan covariate shift &amp; overfit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1E5AA0"/>
                </a:solidFill>
              </a:defRPr>
            </a:pPr>
            <a:r>
              <a:t>4. Residual MLP (ResMLP)</a:t>
            </a:r>
          </a:p>
          <a:p>
            <a:pPr>
              <a:defRPr sz="950" b="1">
                <a:solidFill>
                  <a:srgbClr val="646E7D"/>
                </a:solidFill>
              </a:defRPr>
            </a:pPr>
            <a:r>
              <a:t>Skip Connection Highway</a:t>
            </a:r>
          </a:p>
          <a:p>
            <a:pPr>
              <a:spcBef>
                <a:spcPts val="300"/>
              </a:spcBef>
              <a:defRPr sz="850">
                <a:solidFill>
                  <a:srgbClr val="191E28"/>
                </a:solidFill>
              </a:defRPr>
            </a:pPr>
            <a:r>
              <a:t>• Linear Projection (64) + LN</a:t>
            </a:r>
            <a:br/>
            <a:r>
              <a:t>• 2 Residual Blocks (Skip Add)</a:t>
            </a:r>
            <a:br/>
            <a:r>
              <a:t>• Aktivasi: GELU + LayerNorm</a:t>
            </a:r>
            <a:br/>
            <a:r>
              <a:t>• Aliran gradien halus &amp; optimal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OPTIMIZATION STRATEGY &amp; HYPERPARAMETER SEARCH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Strategi Pembelajaran &amp; Tuning Hyperparameter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F1E41"/>
                </a:solidFill>
              </a:defRPr>
            </a:pPr>
            <a:r>
              <a:t>Komponen Strategi Pembelajaran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Loss Function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Binary Cross-Entropy Loss: L = -[y log(p) + (1-y) log(1-p)], optimal untuk probabilitas biner tumor ganas.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Optimizer Comparison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Pengujian komparatif antara Adam (adaptive moment), RMSprop, dan SGD dengan Nesterov Momentum (0.9).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Learning Rate Grid Search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Eksplorasi nilai base learning rate pada {0.01, 0.001, 0.0001}. Nilai optimal: 0.001 menghasilkan konvergensi tercepat dan stabil.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Dynamic LR Scheduler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ReduceLROnPlateau dengan faktor pengurangan 0.5 jika validation loss tidak membaik dalam 4-5 epoch (min_lr=1e-5).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Early Stopping Regularization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Patience 12-15 epoch memantau val_loss dengan restore_best_weights=True untuk mencegah overfitting pada fase akhir.</a:t>
            </a:r>
          </a:p>
          <a:p>
            <a:pPr>
              <a:spcBef>
                <a:spcPts val="400"/>
              </a:spcBef>
              <a:defRPr sz="1050" b="1">
                <a:solidFill>
                  <a:srgbClr val="1E5AA0"/>
                </a:solidFill>
              </a:defRPr>
            </a:pPr>
            <a:r>
              <a:t>► Batch Size &amp; Epochs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Mini-batch size = 32 untuk menyeimbangkan stochastic noise dan efisiensi vektorisasi; Max Epochs = 70.</a:t>
            </a:r>
          </a:p>
        </p:txBody>
      </p:sp>
      <p:pic>
        <p:nvPicPr>
          <p:cNvPr id="6" name="Picture 5" descr="fig5_optimizer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486400" cy="1934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EXPERIMENT RESULTS - PART 1: CROSS-VALIDATION METRICS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Hasil Eksperimen (1): Kinerja 5-Fold Cross-Validation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kfold_cv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572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645920"/>
            <a:ext cx="4876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F1E41"/>
                </a:solidFill>
              </a:defRPr>
            </a:pPr>
            <a:r>
              <a:t>Tabel Rangkuman Kinerja 5-Fold CV (Mean ± Std)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2194560"/>
          <a:ext cx="4572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822960"/>
                <a:gridCol w="822960"/>
                <a:gridCol w="82296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E4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Baseline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98.02% (±1.08)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97.06% (±1.86)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97.35% (±1.44)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0.9957 (±0.005)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Deep MLP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97.58% (±1.28)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97.06% (±3.22)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96.77% (±1.75)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0.9955 (±0.004)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Regularized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98.02% (±0.82)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95.88% (±2.35)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97.30% (±1.16)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0.9938 (±0.007)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Residual MLP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97.36% (±0.88)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96.47% (±2.20)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96.46% (±1.20)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91E28"/>
                          </a:solidFill>
                        </a:defRPr>
                      </a:pPr>
                      <a:r>
                        <a:t>0.9936 (±0.004)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4348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5AA0"/>
                </a:solidFill>
              </a:defRPr>
            </a:pPr>
            <a:r>
              <a:t>Analisis Temuan 5-Fold CV: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Semua arsitektur mencapai akurasi rata-rata di atas 97.3% dan ROC-AUC di atas 0.993, membuktikan kekuatan representasi neural network pada data FNA.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Regularized MLP memiliki standar deviasi akurasi terendah (±0.82%), menunjukkan stabilitas prediksi paling konsisten antar fold.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Baseline MLP sangat kompetitif pada 30 fitur karena jumlah parameter yang ringkas membatasi risiko overfitting awal.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EXPERIMENT RESULTS - PART 2: TRAINING CONVERGENCE &amp; LOSS DYNAMICS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Hasil Eksperimen (2): Dinamika Konvergensi &amp; Learning Curves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22563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645920"/>
            <a:ext cx="41449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E41"/>
                </a:solidFill>
              </a:defRPr>
            </a:pPr>
            <a:r>
              <a:t>Analisis Kurva Pembelajaran</a:t>
            </a:r>
          </a:p>
          <a:p>
            <a:pPr>
              <a:spcBef>
                <a:spcPts val="600"/>
              </a:spcBef>
              <a:defRPr sz="1050" b="1">
                <a:solidFill>
                  <a:srgbClr val="1E5AA0"/>
                </a:solidFill>
              </a:defRPr>
            </a:pPr>
            <a:r>
              <a:t>► Efek Overfitting pada Deep MLP</a:t>
            </a:r>
          </a:p>
          <a:p>
            <a:pPr>
              <a:spcBef>
                <a:spcPts val="200"/>
              </a:spcBef>
              <a:defRPr sz="950">
                <a:solidFill>
                  <a:srgbClr val="191E28"/>
                </a:solidFill>
              </a:defRPr>
            </a:pPr>
            <a:r>
              <a:t>Deep MLP tanpa regularisasi menunjukkan celah (gap) yang melebar antara train loss dan validation loss setelah epoch ke-25, mengindikasikan memorisasi sampel pelatihan.</a:t>
            </a:r>
          </a:p>
          <a:p>
            <a:pPr>
              <a:spcBef>
                <a:spcPts val="600"/>
              </a:spcBef>
              <a:defRPr sz="1050" b="1">
                <a:solidFill>
                  <a:srgbClr val="1E5AA0"/>
                </a:solidFill>
              </a:defRPr>
            </a:pPr>
            <a:r>
              <a:t>► Stabilisasi Batch Normalization</a:t>
            </a:r>
          </a:p>
          <a:p>
            <a:pPr>
              <a:spcBef>
                <a:spcPts val="200"/>
              </a:spcBef>
              <a:defRPr sz="950">
                <a:solidFill>
                  <a:srgbClr val="191E28"/>
                </a:solidFill>
              </a:defRPr>
            </a:pPr>
            <a:r>
              <a:t>Regularized MLP menunjukkan kurva penurunan loss yang sangat teratur. Batch Normalization efektif menstabilkan distribusi input antar layer (internal covariate shift).</a:t>
            </a:r>
          </a:p>
          <a:p>
            <a:pPr>
              <a:spcBef>
                <a:spcPts val="600"/>
              </a:spcBef>
              <a:defRPr sz="1050" b="1">
                <a:solidFill>
                  <a:srgbClr val="1E5AA0"/>
                </a:solidFill>
              </a:defRPr>
            </a:pPr>
            <a:r>
              <a:t>► Efek Residual Highway (ResMLP)</a:t>
            </a:r>
          </a:p>
          <a:p>
            <a:pPr>
              <a:spcBef>
                <a:spcPts val="200"/>
              </a:spcBef>
              <a:defRPr sz="950">
                <a:solidFill>
                  <a:srgbClr val="191E28"/>
                </a:solidFill>
              </a:defRPr>
            </a:pPr>
            <a:r>
              <a:t>Skip connection memungkinkan aliran gradien balik tanpa degradasi, menghasilkan konvergensi akurasi validasi yang mulus dan cepat mencapai di atas 97%.</a:t>
            </a:r>
          </a:p>
          <a:p>
            <a:pPr>
              <a:spcBef>
                <a:spcPts val="600"/>
              </a:spcBef>
              <a:defRPr sz="1050" b="1">
                <a:solidFill>
                  <a:srgbClr val="1E5AA0"/>
                </a:solidFill>
              </a:defRPr>
            </a:pPr>
            <a:r>
              <a:t>► Dampak Dynamic Learning Rate</a:t>
            </a:r>
          </a:p>
          <a:p>
            <a:pPr>
              <a:spcBef>
                <a:spcPts val="200"/>
              </a:spcBef>
              <a:defRPr sz="950">
                <a:solidFill>
                  <a:srgbClr val="191E28"/>
                </a:solidFill>
              </a:defRPr>
            </a:pPr>
            <a:r>
              <a:t>ReduceLROnPlateau berhasil menurunkan loss secara tajam ketika kurva mulai mendatar (plateau) pada pertengahan pelatihan.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EXPERIMENT RESULTS - PART 3: HOLDOUT TEST SET &amp; CLINICAL TRADE-OFFS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Hasil Eksperimen (3): Evaluasi Test Set &amp; Matriks Kebingungan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2515340"/>
          </a:xfrm>
          <a:prstGeom prst="rect">
            <a:avLst/>
          </a:prstGeom>
        </p:spPr>
      </p:pic>
      <p:pic>
        <p:nvPicPr>
          <p:cNvPr id="6" name="Picture 5" descr="fig7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108960" cy="23218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4114800"/>
            <a:ext cx="7345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E41"/>
                </a:solidFill>
              </a:defRPr>
            </a:pPr>
            <a:r>
              <a:t>Analisis Keputusan Klinis (Clinical Trade-Off) pada 114 Pasien Uji: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Regularized MLP (Presisi Sempurna = 100%): Menghasilkan 0 False Positive (tidak ada pasien sehat yang didiagnosis ganas), dengan Akurasi 98.25% dan ROC-AUC tertinggi (0.9977). Sangat ideal untuk meminimalkan beban psikologis dan biopsi ulang yang tidak perlu.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Residual MLP (Sensitivitas / Recall Tertinggi = 97.62%): Hanya menyisakan 1 False Negative dari 42 kasus kanker ganas! Dalam onkologi medis, meminimalkan False Negative adalah prioritas keselamatan tertinggi agar pasien kanker tidak terlewatkan pengobatan.</a:t>
            </a:r>
          </a:p>
          <a:p>
            <a:pPr>
              <a:spcBef>
                <a:spcPts val="300"/>
              </a:spcBef>
              <a:defRPr sz="900">
                <a:solidFill>
                  <a:srgbClr val="191E28"/>
                </a:solidFill>
              </a:defRPr>
            </a:pPr>
            <a:r>
              <a:t>• Kesimpulan Komparasi Test Set: Baik Regularized MLP maupun Residual MLP mengungguli Deep MLP unregularized (Akurasi 96.49%), membuktikan bahwa desain arsitektur modern dan regularisasi merupakan faktor penentu performa.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CONCLUSION &amp; KEY TAKEAWAYS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Kesimpulan &amp; Pembelajaran Proyek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E5AA0"/>
                </a:solidFill>
              </a:defRPr>
            </a:pPr>
            <a:r>
              <a:t>1. Kelayakan Deep Learning pada Data Medis Tabular</a:t>
            </a:r>
          </a:p>
          <a:p>
            <a:pPr>
              <a:spcBef>
                <a:spcPts val="600"/>
              </a:spcBef>
              <a:defRPr sz="1000">
                <a:solidFill>
                  <a:srgbClr val="191E28"/>
                </a:solidFill>
              </a:defRPr>
            </a:pPr>
            <a:r>
              <a:t>Neural Network terbukti sangat efektif memodelkan 30 fitur morfologis inti sel FNA, menghasilkan akurasi hingga 98.25% dan ROC-AUC 0.9977 pada data uji yang belum pernah dilihat sebelumnya.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48250"/>
                </a:solidFill>
              </a:defRPr>
            </a:pPr>
            <a:r>
              <a:t>2. Peran Krusial Regularisasi &amp; Normalisasi</a:t>
            </a:r>
          </a:p>
          <a:p>
            <a:pPr>
              <a:spcBef>
                <a:spcPts val="600"/>
              </a:spcBef>
              <a:defRPr sz="1000">
                <a:solidFill>
                  <a:srgbClr val="191E28"/>
                </a:solidFill>
              </a:defRPr>
            </a:pPr>
            <a:r>
              <a:t>Deep MLP tanpa regularisasi rentan mengalami overfitting (gap train-val loss melebar). Penambahan Batch Normalization, Dropout berjenjang (0.3-0.1), dan L2 regularizer berhasil mengeliminasi False Positive hingga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8C3296"/>
                </a:solidFill>
              </a:defRPr>
            </a:pPr>
            <a:r>
              <a:t>3. Keunggulan Arsitektur Residual (Res-MLP)</a:t>
            </a:r>
          </a:p>
          <a:p>
            <a:pPr>
              <a:spcBef>
                <a:spcPts val="600"/>
              </a:spcBef>
              <a:defRPr sz="1000">
                <a:solidFill>
                  <a:srgbClr val="191E28"/>
                </a:solidFill>
              </a:defRPr>
            </a:pPr>
            <a:r>
              <a:t>Penerapan skip connection (Residual block) menghasilkan Recall/Sensitivitas tertinggi (97.62%), meminimalkan False Negative menjadi hanya 1 kasus. Karakteristik ini paling aman untuk sistem pendukung keputusan klinis (CDSS).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C86414"/>
                </a:solidFill>
              </a:defRPr>
            </a:pPr>
            <a:r>
              <a:t>4. Efektivitas Strategi Optimasi Adaptif</a:t>
            </a:r>
          </a:p>
          <a:p>
            <a:pPr>
              <a:spcBef>
                <a:spcPts val="600"/>
              </a:spcBef>
              <a:defRPr sz="1000">
                <a:solidFill>
                  <a:srgbClr val="191E28"/>
                </a:solidFill>
              </a:defRPr>
            </a:pPr>
            <a:r>
              <a:t>Kombinasi optimizer Adam dengan ReduceLROnPlateau scheduler memberikan konvergensi loss tercepat dan paling stabil dibandingkan SGD dan RMSprop.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SOURCE CODE URL &amp; PROJECT STRUCTURE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Repositori Kode &amp; Struktur Proyek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E41"/>
                </a:solidFill>
              </a:defRPr>
            </a:pPr>
            <a:r>
              <a:t>Tautan Repositori GitHub &amp; Kode Sumber</a:t>
            </a:r>
          </a:p>
          <a:p>
            <a:pPr>
              <a:spcBef>
                <a:spcPts val="800"/>
              </a:spcBef>
              <a:defRPr sz="1200" b="1">
                <a:solidFill>
                  <a:srgbClr val="1E5AA0"/>
                </a:solidFill>
              </a:defRPr>
            </a:pPr>
            <a:r>
              <a:t>GitHub URL: https://github.com/fransalwan/pmml-mini-project</a:t>
            </a:r>
          </a:p>
          <a:p>
            <a:pPr>
              <a:spcBef>
                <a:spcPts val="1200"/>
              </a:spcBef>
              <a:defRPr sz="1100" b="1">
                <a:solidFill>
                  <a:srgbClr val="191E28"/>
                </a:solidFill>
              </a:defRPr>
            </a:pPr>
            <a:r>
              <a:t>Langkah Reproduksi Proyek (Reproducibility):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1. Clone repositori: git clone &lt;repo_url&gt;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2. Masuk ke direktori: cd pmml-mini-project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3. Install dependensi: pip install -r requirements.txt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4. Jalankan eksperimen: python src/train_eval.py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5. Generate grafik: python src/generate_plots.py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6. Buka Jupyter Notebook: jupyter notebook pmml_mini_project.ipynb</a:t>
            </a:r>
          </a:p>
          <a:p>
            <a:pPr>
              <a:spcBef>
                <a:spcPts val="300"/>
              </a:spcBef>
              <a:defRPr sz="950">
                <a:solidFill>
                  <a:srgbClr val="191E28"/>
                </a:solidFill>
              </a:defRPr>
            </a:pPr>
            <a:r>
              <a:t>7. Generate slide presentasi: python generate_presentation.py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1E41"/>
                </a:solidFill>
              </a:defRPr>
            </a:pPr>
            <a:r>
              <a:t>Struktur Direktori Repositori</a:t>
            </a:r>
          </a:p>
          <a:p>
            <a:pPr>
              <a:spcBef>
                <a:spcPts val="800"/>
              </a:spcBef>
              <a:defRPr sz="850">
                <a:solidFill>
                  <a:srgbClr val="191E28"/>
                </a:solidFill>
                <a:latin typeface="Consolas"/>
              </a:defRPr>
            </a:pPr>
            <a:r>
              <a:t>pmml-mini-project/</a:t>
            </a:r>
            <a:br/>
            <a:r>
              <a:t>├── assets/                  # 7 Scientific Plots &amp; Figures</a:t>
            </a:r>
            <a:br/>
            <a:r>
              <a:t>│   ├── fig1_data_distribution.png</a:t>
            </a:r>
            <a:br/>
            <a:r>
              <a:t>│   ├── fig2_architectures.png</a:t>
            </a:r>
            <a:br/>
            <a:r>
              <a:t>│   ├── fig3_kfold_cv_results.png</a:t>
            </a:r>
            <a:br/>
            <a:r>
              <a:t>│   ├── fig4_learning_curves.png</a:t>
            </a:r>
            <a:br/>
            <a:r>
              <a:t>│   ├── fig5_optimizer_tuning.png</a:t>
            </a:r>
            <a:br/>
            <a:r>
              <a:t>│   ├── fig6_test_confusion_matrix.png</a:t>
            </a:r>
            <a:br/>
            <a:r>
              <a:t>│   └── fig7_roc_curves.png</a:t>
            </a:r>
            <a:br/>
            <a:r>
              <a:t>├── data/                    # Secondary Dataset (CSV)</a:t>
            </a:r>
            <a:br/>
            <a:r>
              <a:t>│   └── breast_cancer.csv</a:t>
            </a:r>
            <a:br/>
            <a:r>
              <a:t>├── results/                 # JSON Experiment Outputs</a:t>
            </a:r>
            <a:br/>
            <a:r>
              <a:t>│   ├── kfold_results.json</a:t>
            </a:r>
            <a:br/>
            <a:r>
              <a:t>│   ├── optimizer_results.json</a:t>
            </a:r>
            <a:br/>
            <a:r>
              <a:t>│   ├── lr_results.json</a:t>
            </a:r>
            <a:br/>
            <a:r>
              <a:t>│   └── test_results.json</a:t>
            </a:r>
            <a:br/>
            <a:r>
              <a:t>├── src/                     # Modular Python Scripts</a:t>
            </a:r>
            <a:br/>
            <a:r>
              <a:t>│   ├── data_loader.py</a:t>
            </a:r>
            <a:br/>
            <a:r>
              <a:t>│   ├── models.py</a:t>
            </a:r>
            <a:br/>
            <a:r>
              <a:t>│   ├── train_eval.py</a:t>
            </a:r>
            <a:br/>
            <a:r>
              <a:t>│   └── generate_plots.py</a:t>
            </a:r>
            <a:br/>
            <a:r>
              <a:t>├── pmml_mini_project.ipynb  # Interactive Jupyter Notebook</a:t>
            </a:r>
            <a:br/>
            <a:r>
              <a:t>├── PMML_Mini_Project_Presentation.pptx # 12 Presentation Slides</a:t>
            </a:r>
            <a:br/>
            <a:r>
              <a:t>└── README.md                # Full Documentation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5AA0"/>
                </a:solidFill>
              </a:defRPr>
            </a:pPr>
            <a:r>
              <a:t>ACADEMIC REFERENCES &amp; SCIENTIFIC LITERATURE</a:t>
            </a:r>
          </a:p>
          <a:p>
            <a:pPr>
              <a:spcBef>
                <a:spcPts val="300"/>
              </a:spcBef>
              <a:defRPr sz="2200" b="1">
                <a:solidFill>
                  <a:srgbClr val="0F1E41"/>
                </a:solidFill>
              </a:defRPr>
            </a:pPr>
            <a:r>
              <a:t>Referensi Ilmiah &amp; Kepustakaan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07040" y="411480"/>
            <a:ext cx="914400" cy="320040"/>
          </a:xfrm>
          <a:prstGeom prst="roundRect">
            <a:avLst/>
          </a:prstGeom>
          <a:solidFill>
            <a:srgbClr val="EBF0FA"/>
          </a:solidFill>
          <a:ln>
            <a:solidFill>
              <a:srgbClr val="C8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5AA0"/>
                </a:solidFill>
              </a:defRPr>
            </a:pPr>
            <a: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0F1E41"/>
                </a:solidFill>
              </a:defRPr>
            </a:pPr>
            <a:r>
              <a:t>Daftar Pustaka Akademik (APA / IEEE Standard)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Wolberg, W. H., Street, W. N., &amp; Mangasarian, O. L. (1995)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Breast Cancer Wisconsin (Diagnostic) Data Set. UCI Machine Learning Repository. https://doi.org/10.24432/C5DW2B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He, K., Zhang, X., Ren, S., &amp; Sun, J. (2016)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Deep Residual Learning for Image Recognition. In Proceedings of the IEEE Conference on Computer Vision and Pattern Recognition (CVPR), pp. 770-778.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Srivastava, N., Hinton, G., Krizhevsky, A., Sutskever, I., &amp; Salakhutdinov, R. (2014)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Dropout: A Simple Way to Prevent Neural Networks from Overfitting. The Journal of Machine Learning Research (JMLR), 15(1), 1929-1958.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Ioffe, S., &amp; Szegedy, C. (2015)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Batch Normalization: Accelerating Deep Network Training by Reducing Internal Covariate Shift. In International Conference on Machine Learning (ICML), pp. 448-456.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Kingma, D. P., &amp; Ba, J. (2014)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Adam: A Method for Stochastic Optimization. In International Conference on Learning Representations (ICLR). arXiv preprint arXiv:1412.6980.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Gorishniy, Y., Rubachev, I., Khrulkov, V., &amp; Babenko, A. (2021)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Revisiting Deep Learning Models for Tabular Data. Advances in Neural Information Processing Systems (NeurIPS), 34, 18932-18943.</a:t>
            </a:r>
          </a:p>
          <a:p>
            <a:pPr>
              <a:spcBef>
                <a:spcPts val="500"/>
              </a:spcBef>
              <a:defRPr sz="1000" b="1">
                <a:solidFill>
                  <a:srgbClr val="1E5AA0"/>
                </a:solidFill>
              </a:defRPr>
            </a:pPr>
            <a:r>
              <a:t>[•] Chicco, D., &amp; Jurman, G. (2020)</a:t>
            </a:r>
          </a:p>
          <a:p>
            <a:pPr>
              <a:spcBef>
                <a:spcPts val="100"/>
              </a:spcBef>
              <a:defRPr sz="950">
                <a:solidFill>
                  <a:srgbClr val="191E28"/>
                </a:solidFill>
              </a:defRPr>
            </a:pPr>
            <a:r>
              <a:t>     The Advantages of the Matthews Correlation Coefficient (MCC) over F1 score and Accuracy in Binary Assessment Evaluation. BMC Genomics, 21(1), 1-13.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