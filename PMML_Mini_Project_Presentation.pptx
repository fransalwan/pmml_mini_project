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5" d="100"/>
          <a:sy n="75" d="100"/>
        </p:scale>
        <p:origin x="946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E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62895" cy="1451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8B4FF"/>
                </a:solidFill>
              </a:defRPr>
            </a:pPr>
            <a:r>
              <a:rPr dirty="0"/>
              <a:t>GROUP MINI PROJECT | PEMBELAJARAN </a:t>
            </a:r>
            <a:r>
              <a:rPr lang="en-US" dirty="0"/>
              <a:t>MESIN MENDALAM LANJUT</a:t>
            </a:r>
            <a:r>
              <a:rPr dirty="0"/>
              <a:t> (PMML)</a:t>
            </a:r>
          </a:p>
          <a:p>
            <a:pPr>
              <a:spcBef>
                <a:spcPts val="800"/>
              </a:spcBef>
              <a:defRPr sz="2400" b="1">
                <a:solidFill>
                  <a:srgbClr val="FFFFFF"/>
                </a:solidFill>
              </a:defRPr>
            </a:pPr>
            <a:r>
              <a:rPr dirty="0" err="1"/>
              <a:t>Klasifikasi</a:t>
            </a:r>
            <a:r>
              <a:rPr dirty="0"/>
              <a:t> Diagnosis </a:t>
            </a:r>
            <a:r>
              <a:rPr dirty="0" err="1"/>
              <a:t>Kanker</a:t>
            </a:r>
            <a:r>
              <a:rPr dirty="0"/>
              <a:t> </a:t>
            </a:r>
            <a:r>
              <a:rPr dirty="0" err="1"/>
              <a:t>Payudara</a:t>
            </a:r>
            <a:r>
              <a:rPr dirty="0"/>
              <a:t> </a:t>
            </a:r>
            <a:r>
              <a:rPr dirty="0" err="1"/>
              <a:t>Menggunakan</a:t>
            </a:r>
            <a:r>
              <a:rPr dirty="0"/>
              <a:t> Deep Neural Network &amp; Residual MLP </a:t>
            </a:r>
            <a:r>
              <a:rPr dirty="0" err="1"/>
              <a:t>Berbasis</a:t>
            </a:r>
            <a:r>
              <a:rPr dirty="0"/>
              <a:t> Secondary Dataset UCI</a:t>
            </a:r>
          </a:p>
          <a:p>
            <a:pPr>
              <a:spcBef>
                <a:spcPts val="800"/>
              </a:spcBef>
              <a:defRPr sz="1400" i="1">
                <a:solidFill>
                  <a:srgbClr val="DCE6F5"/>
                </a:solidFill>
              </a:defRPr>
            </a:pPr>
            <a:r>
              <a:rPr dirty="0" err="1"/>
              <a:t>Dosen</a:t>
            </a:r>
            <a:r>
              <a:rPr dirty="0"/>
              <a:t> </a:t>
            </a:r>
            <a:r>
              <a:rPr dirty="0" err="1"/>
              <a:t>Pengampu</a:t>
            </a:r>
            <a:r>
              <a:rPr dirty="0"/>
              <a:t>: </a:t>
            </a:r>
            <a:r>
              <a:rPr dirty="0" err="1"/>
              <a:t>Afiahayati</a:t>
            </a:r>
            <a:r>
              <a:rPr dirty="0"/>
              <a:t>, </a:t>
            </a:r>
            <a:r>
              <a:rPr dirty="0" err="1"/>
              <a:t>S.Kom</a:t>
            </a:r>
            <a:r>
              <a:rPr dirty="0"/>
              <a:t>., M.Cs., </a:t>
            </a:r>
            <a:r>
              <a:rPr dirty="0" err="1"/>
              <a:t>Ph.D</a:t>
            </a:r>
            <a:endParaRPr dirty="0"/>
          </a:p>
        </p:txBody>
      </p:sp>
      <p:sp>
        <p:nvSpPr>
          <p:cNvPr id="4" name="Rounded Rectangle 3"/>
          <p:cNvSpPr/>
          <p:nvPr/>
        </p:nvSpPr>
        <p:spPr>
          <a:xfrm>
            <a:off x="731520" y="3017520"/>
            <a:ext cx="2542032" cy="2468880"/>
          </a:xfrm>
          <a:prstGeom prst="roundRect">
            <a:avLst/>
          </a:prstGeom>
          <a:solidFill>
            <a:srgbClr val="192D5A"/>
          </a:solidFill>
          <a:ln w="19050">
            <a:solidFill>
              <a:srgbClr val="3C6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228600" rIns="164592" rtlCol="0" anchor="ctr"/>
          <a:lstStyle/>
          <a:p>
            <a:pPr algn="ctr">
              <a:defRPr sz="950" b="1">
                <a:solidFill>
                  <a:srgbClr val="78B4FF"/>
                </a:solidFill>
              </a:defRPr>
            </a:pPr>
            <a:r>
              <a:rPr dirty="0"/>
              <a:t>ANGGOTA 1</a:t>
            </a:r>
          </a:p>
          <a:p>
            <a:pPr>
              <a:spcBef>
                <a:spcPts val="500"/>
              </a:spcBef>
              <a:defRPr sz="1300" b="1">
                <a:solidFill>
                  <a:srgbClr val="FFFFFF"/>
                </a:solidFill>
              </a:defRPr>
            </a:pPr>
            <a:r>
              <a:rPr dirty="0"/>
              <a:t>FRANS ALWAN PURBA</a:t>
            </a:r>
          </a:p>
          <a:p>
            <a:pPr>
              <a:spcBef>
                <a:spcPts val="400"/>
              </a:spcBef>
              <a:defRPr sz="1100" b="1">
                <a:solidFill>
                  <a:srgbClr val="F5B93C"/>
                </a:solidFill>
              </a:defRPr>
            </a:pPr>
            <a:r>
              <a:rPr dirty="0"/>
              <a:t>25/563545/PPA/07116</a:t>
            </a:r>
          </a:p>
          <a:p>
            <a:pPr>
              <a:spcBef>
                <a:spcPts val="800"/>
              </a:spcBef>
              <a:defRPr sz="950">
                <a:solidFill>
                  <a:srgbClr val="C8D7EB"/>
                </a:solidFill>
              </a:defRPr>
            </a:pPr>
            <a:r>
              <a:rPr dirty="0"/>
              <a:t>Magister </a:t>
            </a:r>
            <a:r>
              <a:rPr lang="en-US" dirty="0" err="1"/>
              <a:t>Kecerdasan</a:t>
            </a:r>
            <a:r>
              <a:rPr lang="en-US" dirty="0"/>
              <a:t> </a:t>
            </a:r>
            <a:r>
              <a:rPr lang="en-US" dirty="0" err="1"/>
              <a:t>Artifisial</a:t>
            </a:r>
            <a:br>
              <a:rPr dirty="0"/>
            </a:br>
            <a:r>
              <a:rPr dirty="0"/>
              <a:t>Universitas Gadjah </a:t>
            </a:r>
            <a:r>
              <a:rPr dirty="0" err="1"/>
              <a:t>Mada</a:t>
            </a:r>
            <a:endParaRPr dirty="0"/>
          </a:p>
        </p:txBody>
      </p:sp>
      <p:sp>
        <p:nvSpPr>
          <p:cNvPr id="5" name="Rounded Rectangle 4"/>
          <p:cNvSpPr/>
          <p:nvPr/>
        </p:nvSpPr>
        <p:spPr>
          <a:xfrm>
            <a:off x="3465576" y="3017520"/>
            <a:ext cx="2542032" cy="2468880"/>
          </a:xfrm>
          <a:prstGeom prst="roundRect">
            <a:avLst/>
          </a:prstGeom>
          <a:solidFill>
            <a:srgbClr val="192D5A"/>
          </a:solidFill>
          <a:ln w="19050">
            <a:solidFill>
              <a:srgbClr val="3C6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228600" rIns="164592" rtlCol="0" anchor="ctr"/>
          <a:lstStyle/>
          <a:p>
            <a:pPr algn="ctr">
              <a:defRPr sz="950" b="1">
                <a:solidFill>
                  <a:srgbClr val="78B4FF"/>
                </a:solidFill>
              </a:defRPr>
            </a:pPr>
            <a:r>
              <a:rPr dirty="0"/>
              <a:t>ANGGOTA 2</a:t>
            </a:r>
          </a:p>
          <a:p>
            <a:pPr>
              <a:spcBef>
                <a:spcPts val="500"/>
              </a:spcBef>
              <a:defRPr sz="1300" b="1">
                <a:solidFill>
                  <a:srgbClr val="FFFFFF"/>
                </a:solidFill>
              </a:defRPr>
            </a:pPr>
            <a:r>
              <a:rPr dirty="0"/>
              <a:t>Muhammad </a:t>
            </a:r>
            <a:r>
              <a:rPr dirty="0" err="1"/>
              <a:t>Fikry</a:t>
            </a:r>
            <a:r>
              <a:rPr dirty="0"/>
              <a:t> Rizal</a:t>
            </a:r>
          </a:p>
          <a:p>
            <a:pPr>
              <a:spcBef>
                <a:spcPts val="400"/>
              </a:spcBef>
              <a:defRPr sz="1100" b="1">
                <a:solidFill>
                  <a:srgbClr val="F5B93C"/>
                </a:solidFill>
              </a:defRPr>
            </a:pPr>
            <a:r>
              <a:rPr dirty="0"/>
              <a:t>25/573936/PPA/07229</a:t>
            </a:r>
          </a:p>
          <a:p>
            <a:pPr>
              <a:spcBef>
                <a:spcPts val="800"/>
              </a:spcBef>
              <a:defRPr sz="950">
                <a:solidFill>
                  <a:srgbClr val="C8D7EB"/>
                </a:solidFill>
              </a:defRPr>
            </a:pPr>
            <a:r>
              <a:rPr lang="en-US" dirty="0"/>
              <a:t>Magister </a:t>
            </a:r>
            <a:r>
              <a:rPr lang="en-US" dirty="0" err="1"/>
              <a:t>Kecerdasan</a:t>
            </a:r>
            <a:r>
              <a:rPr lang="en-US" dirty="0"/>
              <a:t> </a:t>
            </a:r>
            <a:r>
              <a:rPr lang="en-US" dirty="0" err="1"/>
              <a:t>Artifisial</a:t>
            </a:r>
            <a:br>
              <a:rPr dirty="0"/>
            </a:br>
            <a:r>
              <a:rPr dirty="0"/>
              <a:t>Universitas Gadjah </a:t>
            </a:r>
            <a:r>
              <a:rPr dirty="0" err="1"/>
              <a:t>Mada</a:t>
            </a:r>
            <a:endParaRPr dirty="0"/>
          </a:p>
        </p:txBody>
      </p:sp>
      <p:sp>
        <p:nvSpPr>
          <p:cNvPr id="6" name="Rounded Rectangle 5"/>
          <p:cNvSpPr/>
          <p:nvPr/>
        </p:nvSpPr>
        <p:spPr>
          <a:xfrm>
            <a:off x="6199632" y="3017520"/>
            <a:ext cx="2542032" cy="2468880"/>
          </a:xfrm>
          <a:prstGeom prst="roundRect">
            <a:avLst/>
          </a:prstGeom>
          <a:solidFill>
            <a:srgbClr val="192D5A"/>
          </a:solidFill>
          <a:ln w="19050">
            <a:solidFill>
              <a:srgbClr val="3C6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228600" rIns="164592" rtlCol="0" anchor="ctr"/>
          <a:lstStyle/>
          <a:p>
            <a:pPr algn="ctr">
              <a:defRPr sz="950" b="1">
                <a:solidFill>
                  <a:srgbClr val="78B4FF"/>
                </a:solidFill>
              </a:defRPr>
            </a:pPr>
            <a:r>
              <a:rPr dirty="0"/>
              <a:t>ANGGOTA 3</a:t>
            </a:r>
          </a:p>
          <a:p>
            <a:pPr>
              <a:spcBef>
                <a:spcPts val="500"/>
              </a:spcBef>
              <a:defRPr sz="1300" b="1">
                <a:solidFill>
                  <a:srgbClr val="FFFFFF"/>
                </a:solidFill>
              </a:defRPr>
            </a:pPr>
            <a:r>
              <a:rPr dirty="0" err="1"/>
              <a:t>Rafel</a:t>
            </a:r>
            <a:r>
              <a:rPr dirty="0"/>
              <a:t> Romero </a:t>
            </a:r>
            <a:r>
              <a:rPr dirty="0" err="1"/>
              <a:t>Hirawanto</a:t>
            </a:r>
            <a:endParaRPr dirty="0"/>
          </a:p>
          <a:p>
            <a:pPr>
              <a:spcBef>
                <a:spcPts val="400"/>
              </a:spcBef>
              <a:defRPr sz="1100" b="1">
                <a:solidFill>
                  <a:srgbClr val="F5B93C"/>
                </a:solidFill>
              </a:defRPr>
            </a:pPr>
            <a:r>
              <a:rPr dirty="0"/>
              <a:t>25/573260/PPA/07216</a:t>
            </a:r>
          </a:p>
          <a:p>
            <a:pPr>
              <a:spcBef>
                <a:spcPts val="800"/>
              </a:spcBef>
              <a:defRPr sz="950">
                <a:solidFill>
                  <a:srgbClr val="C8D7EB"/>
                </a:solidFill>
              </a:defRPr>
            </a:pPr>
            <a:r>
              <a:rPr lang="en-US" dirty="0"/>
              <a:t>Magister </a:t>
            </a:r>
            <a:r>
              <a:rPr lang="en-US" dirty="0" err="1"/>
              <a:t>Kecerdasan</a:t>
            </a:r>
            <a:r>
              <a:rPr lang="en-US" dirty="0"/>
              <a:t> </a:t>
            </a:r>
            <a:r>
              <a:rPr lang="en-US" dirty="0" err="1"/>
              <a:t>Artifisial</a:t>
            </a:r>
            <a:br>
              <a:rPr dirty="0"/>
            </a:br>
            <a:r>
              <a:rPr dirty="0"/>
              <a:t>Universitas Gadjah </a:t>
            </a:r>
            <a:r>
              <a:rPr dirty="0" err="1"/>
              <a:t>Mada</a:t>
            </a:r>
            <a:endParaRPr dirty="0"/>
          </a:p>
        </p:txBody>
      </p:sp>
      <p:sp>
        <p:nvSpPr>
          <p:cNvPr id="7" name="Rounded Rectangle 6"/>
          <p:cNvSpPr/>
          <p:nvPr/>
        </p:nvSpPr>
        <p:spPr>
          <a:xfrm>
            <a:off x="8933688" y="3017520"/>
            <a:ext cx="2542032" cy="2468880"/>
          </a:xfrm>
          <a:prstGeom prst="roundRect">
            <a:avLst/>
          </a:prstGeom>
          <a:solidFill>
            <a:srgbClr val="192D5A"/>
          </a:solidFill>
          <a:ln w="19050">
            <a:solidFill>
              <a:srgbClr val="3C6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228600" rIns="164592" rtlCol="0" anchor="ctr"/>
          <a:lstStyle/>
          <a:p>
            <a:pPr algn="ctr">
              <a:defRPr sz="950" b="1">
                <a:solidFill>
                  <a:srgbClr val="78B4FF"/>
                </a:solidFill>
              </a:defRPr>
            </a:pPr>
            <a:r>
              <a:rPr dirty="0"/>
              <a:t>ANGGOTA 4</a:t>
            </a:r>
          </a:p>
          <a:p>
            <a:pPr>
              <a:spcBef>
                <a:spcPts val="500"/>
              </a:spcBef>
              <a:defRPr sz="1300" b="1">
                <a:solidFill>
                  <a:srgbClr val="FFFFFF"/>
                </a:solidFill>
              </a:defRPr>
            </a:pPr>
            <a:r>
              <a:rPr dirty="0" err="1"/>
              <a:t>Sidikara</a:t>
            </a:r>
            <a:r>
              <a:rPr dirty="0"/>
              <a:t> Hakim</a:t>
            </a:r>
          </a:p>
          <a:p>
            <a:pPr>
              <a:spcBef>
                <a:spcPts val="400"/>
              </a:spcBef>
              <a:defRPr sz="1100" b="1">
                <a:solidFill>
                  <a:srgbClr val="F5B93C"/>
                </a:solidFill>
              </a:defRPr>
            </a:pPr>
            <a:r>
              <a:rPr dirty="0"/>
              <a:t>25/573720/PPA/07221</a:t>
            </a:r>
          </a:p>
          <a:p>
            <a:pPr>
              <a:spcBef>
                <a:spcPts val="800"/>
              </a:spcBef>
              <a:defRPr sz="950">
                <a:solidFill>
                  <a:srgbClr val="C8D7EB"/>
                </a:solidFill>
              </a:defRPr>
            </a:pPr>
            <a:r>
              <a:rPr lang="en-US" dirty="0"/>
              <a:t>Magister </a:t>
            </a:r>
            <a:r>
              <a:rPr lang="en-US" dirty="0" err="1"/>
              <a:t>Kecerdasan</a:t>
            </a:r>
            <a:r>
              <a:rPr lang="en-US" dirty="0"/>
              <a:t> </a:t>
            </a:r>
            <a:r>
              <a:rPr lang="en-US" dirty="0" err="1"/>
              <a:t>Artifisial</a:t>
            </a:r>
            <a:br>
              <a:rPr dirty="0"/>
            </a:br>
            <a:r>
              <a:rPr dirty="0"/>
              <a:t>Universitas Gadjah </a:t>
            </a:r>
            <a:r>
              <a:rPr dirty="0" err="1"/>
              <a:t>Mada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914400" y="59436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6AFD2"/>
                </a:solidFill>
              </a:defRPr>
            </a:pPr>
            <a:r>
              <a:t>Presentasi Ujian / Evaluasi Mini Project | Tanggal Presentasi: Friday, 16 Oct 2026 | Slide 1 of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5AA0"/>
                </a:solidFill>
              </a:defRPr>
            </a:pPr>
            <a:r>
              <a:t>GROUP WORKLOAD &amp; TASK ALLOCATION</a:t>
            </a:r>
          </a:p>
          <a:p>
            <a:pPr>
              <a:spcBef>
                <a:spcPts val="300"/>
              </a:spcBef>
              <a:defRPr sz="2200" b="1">
                <a:solidFill>
                  <a:srgbClr val="0F1E41"/>
                </a:solidFill>
              </a:defRPr>
            </a:pPr>
            <a:r>
              <a:t>Jobdesk &amp; Pembagian Peran Anggota Kelompok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607040" y="411480"/>
            <a:ext cx="914400" cy="320040"/>
          </a:xfrm>
          <a:prstGeom prst="roundRect">
            <a:avLst/>
          </a:prstGeom>
          <a:solidFill>
            <a:srgbClr val="EBF0FA"/>
          </a:solidFill>
          <a:ln>
            <a:solidFill>
              <a:srgbClr val="C8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E5AA0"/>
                </a:solidFill>
              </a:defRPr>
            </a:pPr>
            <a:r>
              <a:t>2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C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42032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82880" rIns="146304" rtlCol="0" anchor="ctr"/>
          <a:lstStyle/>
          <a:p>
            <a:pPr algn="ctr">
              <a:defRPr sz="1100" b="1">
                <a:solidFill>
                  <a:srgbClr val="191E28"/>
                </a:solidFill>
              </a:defRPr>
            </a:pPr>
            <a:r>
              <a:t>FRANS ALWAN PURBA</a:t>
            </a:r>
          </a:p>
          <a:p>
            <a:pPr>
              <a:defRPr sz="950" b="1">
                <a:solidFill>
                  <a:srgbClr val="646E7D"/>
                </a:solidFill>
              </a:defRPr>
            </a:pPr>
            <a:r>
              <a:t>25/563545/PPA/07116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900" b="1">
                <a:solidFill>
                  <a:srgbClr val="1E5AA0"/>
                </a:solidFill>
              </a:defRPr>
            </a:pPr>
            <a:r>
              <a:t>DATA PREPROCESSING &amp; VALIDATION</a:t>
            </a:r>
          </a:p>
          <a:p>
            <a:pPr>
              <a:spcBef>
                <a:spcPts val="300"/>
              </a:spcBef>
              <a:defRPr sz="850">
                <a:solidFill>
                  <a:srgbClr val="191E28"/>
                </a:solidFill>
              </a:defRPr>
            </a:pPr>
            <a:r>
              <a:t>• Eksplorasi dataset sekunder UCI Breast Cancer Wisconsin (569 sampel, 30 fitur).</a:t>
            </a:r>
          </a:p>
          <a:p>
            <a:pPr>
              <a:spcBef>
                <a:spcPts val="300"/>
              </a:spcBef>
              <a:defRPr sz="850">
                <a:solidFill>
                  <a:srgbClr val="191E28"/>
                </a:solidFill>
              </a:defRPr>
            </a:pPr>
            <a:r>
              <a:t>• Desain skema Stratified 5-Fold Cross-Validation dan Train-Test split (80:20).</a:t>
            </a:r>
          </a:p>
          <a:p>
            <a:pPr>
              <a:spcBef>
                <a:spcPts val="300"/>
              </a:spcBef>
              <a:defRPr sz="850">
                <a:solidFill>
                  <a:srgbClr val="191E28"/>
                </a:solidFill>
              </a:defRPr>
            </a:pPr>
            <a:r>
              <a:t>• Standardisasi fitur (StandardScaler) strictly pada train fold anti data leakage.</a:t>
            </a:r>
          </a:p>
          <a:p>
            <a:pPr>
              <a:spcBef>
                <a:spcPts val="300"/>
              </a:spcBef>
              <a:defRPr sz="850">
                <a:solidFill>
                  <a:srgbClr val="191E28"/>
                </a:solidFill>
              </a:defRPr>
            </a:pPr>
            <a:r>
              <a:t>• Implementasi arsitektur Model 1 (Baseline Shallow MLP) sebagai standar komparasi.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5576" y="1645920"/>
            <a:ext cx="2542032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82880" rIns="146304" rtlCol="0" anchor="ctr"/>
          <a:lstStyle/>
          <a:p>
            <a:pPr algn="ctr">
              <a:defRPr sz="1100" b="1">
                <a:solidFill>
                  <a:srgbClr val="191E28"/>
                </a:solidFill>
              </a:defRPr>
            </a:pPr>
            <a:r>
              <a:t>Muhammad Fikry Rizal</a:t>
            </a:r>
          </a:p>
          <a:p>
            <a:pPr>
              <a:defRPr sz="950" b="1">
                <a:solidFill>
                  <a:srgbClr val="646E7D"/>
                </a:solidFill>
              </a:defRPr>
            </a:pPr>
            <a:r>
              <a:t>25/573936/PPA/07229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900" b="1">
                <a:solidFill>
                  <a:srgbClr val="148250"/>
                </a:solidFill>
              </a:defRPr>
            </a:pPr>
            <a:r>
              <a:t>DEEP MLP &amp; OPTIMIZER TUNING</a:t>
            </a:r>
          </a:p>
          <a:p>
            <a:pPr>
              <a:spcBef>
                <a:spcPts val="300"/>
              </a:spcBef>
              <a:defRPr sz="850">
                <a:solidFill>
                  <a:srgbClr val="191E28"/>
                </a:solidFill>
              </a:defRPr>
            </a:pPr>
            <a:r>
              <a:t>• Perancangan Deep MLP (3 hidden layers: 128-64-32) untuk representasi fitur.</a:t>
            </a:r>
          </a:p>
          <a:p>
            <a:pPr>
              <a:spcBef>
                <a:spcPts val="300"/>
              </a:spcBef>
              <a:defRPr sz="850">
                <a:solidFill>
                  <a:srgbClr val="191E28"/>
                </a:solidFill>
              </a:defRPr>
            </a:pPr>
            <a:r>
              <a:t>• Eksperimen komparasi optimizers (Adam, RMSprop, SGD Nesterov Momentum).</a:t>
            </a:r>
          </a:p>
          <a:p>
            <a:pPr>
              <a:spcBef>
                <a:spcPts val="300"/>
              </a:spcBef>
              <a:defRPr sz="850">
                <a:solidFill>
                  <a:srgbClr val="191E28"/>
                </a:solidFill>
              </a:defRPr>
            </a:pPr>
            <a:r>
              <a:t>• Analisis sensitivitas learning rate (0.01, 0.001, 0.0001) terhadap konvergensi.</a:t>
            </a:r>
          </a:p>
          <a:p>
            <a:pPr>
              <a:spcBef>
                <a:spcPts val="300"/>
              </a:spcBef>
              <a:defRPr sz="850">
                <a:solidFill>
                  <a:srgbClr val="191E28"/>
                </a:solidFill>
              </a:defRPr>
            </a:pPr>
            <a:r>
              <a:t>• Penerapan dynamic learning rate scheduler (ReduceLROnPlateau) &amp; early stopping.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1645920"/>
            <a:ext cx="2542032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82880" rIns="146304" rtlCol="0" anchor="ctr"/>
          <a:lstStyle/>
          <a:p>
            <a:pPr algn="ctr">
              <a:defRPr sz="1100" b="1">
                <a:solidFill>
                  <a:srgbClr val="191E28"/>
                </a:solidFill>
              </a:defRPr>
            </a:pPr>
            <a:r>
              <a:t>Rafel Romero Hirawanto</a:t>
            </a:r>
          </a:p>
          <a:p>
            <a:pPr>
              <a:defRPr sz="950" b="1">
                <a:solidFill>
                  <a:srgbClr val="646E7D"/>
                </a:solidFill>
              </a:defRPr>
            </a:pPr>
            <a:r>
              <a:t>25/573260/PPA/07216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900" b="1">
                <a:solidFill>
                  <a:srgbClr val="DC6E14"/>
                </a:solidFill>
              </a:defRPr>
            </a:pPr>
            <a:r>
              <a:t>REGULARIZATION &amp; RESIDUAL NETWORK</a:t>
            </a:r>
          </a:p>
          <a:p>
            <a:pPr>
              <a:spcBef>
                <a:spcPts val="300"/>
              </a:spcBef>
              <a:defRPr sz="850">
                <a:solidFill>
                  <a:srgbClr val="191E28"/>
                </a:solidFill>
              </a:defRPr>
            </a:pPr>
            <a:r>
              <a:t>• Desain Regularized Deep MLP dengan Batch Normalization, Dropout, &amp; L2 Decay.</a:t>
            </a:r>
          </a:p>
          <a:p>
            <a:pPr>
              <a:spcBef>
                <a:spcPts val="300"/>
              </a:spcBef>
              <a:defRPr sz="850">
                <a:solidFill>
                  <a:srgbClr val="191E28"/>
                </a:solidFill>
              </a:defRPr>
            </a:pPr>
            <a:r>
              <a:t>• Implementasi arsitektur mutakhir Deep Residual MLP (Res-MLP) dengan skip connection.</a:t>
            </a:r>
          </a:p>
          <a:p>
            <a:pPr>
              <a:spcBef>
                <a:spcPts val="300"/>
              </a:spcBef>
              <a:defRPr sz="850">
                <a:solidFill>
                  <a:srgbClr val="191E28"/>
                </a:solidFill>
              </a:defRPr>
            </a:pPr>
            <a:r>
              <a:t>• Integrasi fungsi aktivasi non-linear GELU dan Layer Normalization pada blok residual.</a:t>
            </a:r>
          </a:p>
          <a:p>
            <a:pPr>
              <a:spcBef>
                <a:spcPts val="300"/>
              </a:spcBef>
              <a:defRPr sz="850">
                <a:solidFill>
                  <a:srgbClr val="191E28"/>
                </a:solidFill>
              </a:defRPr>
            </a:pPr>
            <a:r>
              <a:t>• Analisis mitigasi overfitting dan reduksi internal covariate shift antar-layer.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33688" y="1645920"/>
            <a:ext cx="2542032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82880" rIns="146304" rtlCol="0" anchor="ctr"/>
          <a:lstStyle/>
          <a:p>
            <a:pPr algn="ctr">
              <a:defRPr sz="1100" b="1">
                <a:solidFill>
                  <a:srgbClr val="191E28"/>
                </a:solidFill>
              </a:defRPr>
            </a:pPr>
            <a:r>
              <a:t>Sidikara Hakim</a:t>
            </a:r>
          </a:p>
          <a:p>
            <a:pPr>
              <a:defRPr sz="950" b="1">
                <a:solidFill>
                  <a:srgbClr val="646E7D"/>
                </a:solidFill>
              </a:defRPr>
            </a:pPr>
            <a:r>
              <a:t>25/573720/PPA/07221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900" b="1">
                <a:solidFill>
                  <a:srgbClr val="8C3296"/>
                </a:solidFill>
              </a:defRPr>
            </a:pPr>
            <a:r>
              <a:t>CLINICAL EVALUATION &amp; PRESENTATION</a:t>
            </a:r>
          </a:p>
          <a:p>
            <a:pPr>
              <a:spcBef>
                <a:spcPts val="300"/>
              </a:spcBef>
              <a:defRPr sz="850">
                <a:solidFill>
                  <a:srgbClr val="191E28"/>
                </a:solidFill>
              </a:defRPr>
            </a:pPr>
            <a:r>
              <a:t>• Evaluasi metrik diagnostik komprehensif (Accuracy, Recall, Specificity, F1, ROC-AUC).</a:t>
            </a:r>
          </a:p>
          <a:p>
            <a:pPr>
              <a:spcBef>
                <a:spcPts val="300"/>
              </a:spcBef>
              <a:defRPr sz="850">
                <a:solidFill>
                  <a:srgbClr val="191E28"/>
                </a:solidFill>
              </a:defRPr>
            </a:pPr>
            <a:r>
              <a:t>• Analisis sensitivitas klinis False Negative vs False Positive pada data uji unseen.</a:t>
            </a:r>
          </a:p>
          <a:p>
            <a:pPr>
              <a:spcBef>
                <a:spcPts val="300"/>
              </a:spcBef>
              <a:defRPr sz="850">
                <a:solidFill>
                  <a:srgbClr val="191E28"/>
                </a:solidFill>
              </a:defRPr>
            </a:pPr>
            <a:r>
              <a:t>• Generasi visualisasi saintifik resolusi tinggi (Learning Curves, Confusion Matrix, ROC).</a:t>
            </a:r>
          </a:p>
          <a:p>
            <a:pPr>
              <a:spcBef>
                <a:spcPts val="300"/>
              </a:spcBef>
              <a:defRPr sz="850">
                <a:solidFill>
                  <a:srgbClr val="191E28"/>
                </a:solidFill>
              </a:defRPr>
            </a:pPr>
            <a:r>
              <a:t>• Penyusunan slide presentasi profesional 12 halaman dan dokumentasi repositori.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5AA0"/>
                </a:solidFill>
              </a:defRPr>
            </a:pPr>
            <a:r>
              <a:t>PROBLEM FORMULATION &amp; CLINICAL CONTEXT</a:t>
            </a:r>
          </a:p>
          <a:p>
            <a:pPr>
              <a:spcBef>
                <a:spcPts val="300"/>
              </a:spcBef>
              <a:defRPr sz="2200" b="1">
                <a:solidFill>
                  <a:srgbClr val="0F1E41"/>
                </a:solidFill>
              </a:defRPr>
            </a:pPr>
            <a:r>
              <a:t>Deskripsi Kasus &amp; Signifikansi Klinis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607040" y="411480"/>
            <a:ext cx="914400" cy="320040"/>
          </a:xfrm>
          <a:prstGeom prst="roundRect">
            <a:avLst/>
          </a:prstGeom>
          <a:solidFill>
            <a:srgbClr val="EBF0FA"/>
          </a:solidFill>
          <a:ln>
            <a:solidFill>
              <a:srgbClr val="C8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E5AA0"/>
                </a:solidFill>
              </a:defRPr>
            </a:pPr>
            <a:r>
              <a:t>3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C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defRPr sz="1500" b="1">
                <a:solidFill>
                  <a:srgbClr val="0F1E41"/>
                </a:solidFill>
              </a:defRPr>
            </a:pPr>
            <a:r>
              <a:t>Latar Belakang Klinis</a:t>
            </a:r>
          </a:p>
          <a:p>
            <a:pPr>
              <a:spcBef>
                <a:spcPts val="800"/>
              </a:spcBef>
              <a:defRPr sz="1150" b="1">
                <a:solidFill>
                  <a:srgbClr val="1E5AA0"/>
                </a:solidFill>
              </a:defRPr>
            </a:pPr>
            <a:r>
              <a:t>► Epidemiologi Kanker Payudara</a:t>
            </a:r>
          </a:p>
          <a:p>
            <a:pPr>
              <a:spcBef>
                <a:spcPts val="200"/>
              </a:spcBef>
              <a:defRPr sz="1050">
                <a:solidFill>
                  <a:srgbClr val="191E28"/>
                </a:solidFill>
              </a:defRPr>
            </a:pPr>
            <a:r>
              <a:t>Kanker payudara merupakan penyebab mortalitas akibat kanker tertinggi pada wanita di seluruh dunia. Deteksi dini dan diagnosis yang akurat sangat menentukan tingkat kelangsungan hidup (survival rate) pasien.</a:t>
            </a:r>
          </a:p>
          <a:p>
            <a:pPr>
              <a:spcBef>
                <a:spcPts val="800"/>
              </a:spcBef>
              <a:defRPr sz="1150" b="1">
                <a:solidFill>
                  <a:srgbClr val="1E5AA0"/>
                </a:solidFill>
              </a:defRPr>
            </a:pPr>
            <a:r>
              <a:t>► Prosedur Fine Needle Aspirate (FNA)</a:t>
            </a:r>
          </a:p>
          <a:p>
            <a:pPr>
              <a:spcBef>
                <a:spcPts val="200"/>
              </a:spcBef>
              <a:defRPr sz="1050">
                <a:solidFill>
                  <a:srgbClr val="191E28"/>
                </a:solidFill>
              </a:defRPr>
            </a:pPr>
            <a:r>
              <a:t>Biopsi FNA mengambil sampel sel tumor cairan payudara. Morfologi inti sel kemudian dianalisis melalui citra mikroskopik digital untuk menentukan status tumor.</a:t>
            </a:r>
          </a:p>
          <a:p>
            <a:pPr>
              <a:spcBef>
                <a:spcPts val="800"/>
              </a:spcBef>
              <a:defRPr sz="1150" b="1">
                <a:solidFill>
                  <a:srgbClr val="1E5AA0"/>
                </a:solidFill>
              </a:defRPr>
            </a:pPr>
            <a:r>
              <a:t>► Tantangan Sensitivitas &amp; False Negative</a:t>
            </a:r>
          </a:p>
          <a:p>
            <a:pPr>
              <a:spcBef>
                <a:spcPts val="200"/>
              </a:spcBef>
              <a:defRPr sz="1050">
                <a:solidFill>
                  <a:srgbClr val="191E28"/>
                </a:solidFill>
              </a:defRPr>
            </a:pPr>
            <a:r>
              <a:t>Dalam konteks onkologi, kesalahan diagnosis False Negative (pasien kanker ganas diklasifikasikan sebagai tumor jinak) berakibat sangat fatal karena menunda terapi kritis pasien.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defRPr sz="1500" b="1">
                <a:solidFill>
                  <a:srgbClr val="0F1E41"/>
                </a:solidFill>
              </a:defRPr>
            </a:pPr>
            <a:r>
              <a:t>Peran Deep Learning &amp; Tujuan Komputasi</a:t>
            </a:r>
          </a:p>
          <a:p>
            <a:pPr>
              <a:spcBef>
                <a:spcPts val="800"/>
              </a:spcBef>
              <a:defRPr sz="1150" b="1">
                <a:solidFill>
                  <a:srgbClr val="148250"/>
                </a:solidFill>
              </a:defRPr>
            </a:pPr>
            <a:r>
              <a:t>► Kompleksitas Non-Linear Fitur Morfologis</a:t>
            </a:r>
          </a:p>
          <a:p>
            <a:pPr>
              <a:spcBef>
                <a:spcPts val="200"/>
              </a:spcBef>
              <a:defRPr sz="1050">
                <a:solidFill>
                  <a:srgbClr val="191E28"/>
                </a:solidFill>
              </a:defRPr>
            </a:pPr>
            <a:r>
              <a:t>Hubungan antara 30 fitur klinis (ukuran inti sel, tekstur, kecekungan, keliling, simetri) bersifat interaktif dan non-linear tinggi yang sulit ditangkap secara optimal oleh model linier sederhana.</a:t>
            </a:r>
          </a:p>
          <a:p>
            <a:pPr>
              <a:spcBef>
                <a:spcPts val="800"/>
              </a:spcBef>
              <a:defRPr sz="1150" b="1">
                <a:solidFill>
                  <a:srgbClr val="148250"/>
                </a:solidFill>
              </a:defRPr>
            </a:pPr>
            <a:r>
              <a:t>► Kemampuan Representasi Hierarkis</a:t>
            </a:r>
          </a:p>
          <a:p>
            <a:pPr>
              <a:spcBef>
                <a:spcPts val="200"/>
              </a:spcBef>
              <a:defRPr sz="1050">
                <a:solidFill>
                  <a:srgbClr val="191E28"/>
                </a:solidFill>
              </a:defRPr>
            </a:pPr>
            <a:r>
              <a:t>Deep Neural Networks (DNN) mampu mengekstraksi kombinasi fitur abstrak bertingkat (feature representations) dari data tabular berdimensi tinggi.</a:t>
            </a:r>
          </a:p>
          <a:p>
            <a:pPr>
              <a:spcBef>
                <a:spcPts val="800"/>
              </a:spcBef>
              <a:defRPr sz="1150" b="1">
                <a:solidFill>
                  <a:srgbClr val="148250"/>
                </a:solidFill>
              </a:defRPr>
            </a:pPr>
            <a:r>
              <a:t>► Tujuan Penelitian Mini Project</a:t>
            </a:r>
          </a:p>
          <a:p>
            <a:pPr>
              <a:spcBef>
                <a:spcPts val="200"/>
              </a:spcBef>
              <a:defRPr sz="1050">
                <a:solidFill>
                  <a:srgbClr val="191E28"/>
                </a:solidFill>
              </a:defRPr>
            </a:pPr>
            <a:r>
              <a:t>1. Mengembangkan dan membandingkan 4 arsitektur neural network (Baseline, Deep, Regularized, dan Residual MLP).</a:t>
            </a:r>
            <a:br/>
            <a:r>
              <a:t>2. Menganalisis efektivitas Batch Normalization, Dropout, dan Skip Connection dalam mencegah overfitting.</a:t>
            </a:r>
            <a:br/>
            <a:r>
              <a:t>3. Menemukan arsitektur terbaik dengan trade-off akurasi tinggi dan sensitivitas (Recall) optimal.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5AA0"/>
                </a:solidFill>
              </a:defRPr>
            </a:pPr>
            <a:r>
              <a:t>DATASET CHARACTERISTICS &amp; VALIDATION SETUP</a:t>
            </a:r>
          </a:p>
          <a:p>
            <a:pPr>
              <a:spcBef>
                <a:spcPts val="300"/>
              </a:spcBef>
              <a:defRPr sz="2200" b="1">
                <a:solidFill>
                  <a:srgbClr val="0F1E41"/>
                </a:solidFill>
              </a:defRPr>
            </a:pPr>
            <a:r>
              <a:t>Deskripsi Dataset, Preprocessing, &amp; Skema K-Fold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607040" y="411480"/>
            <a:ext cx="914400" cy="320040"/>
          </a:xfrm>
          <a:prstGeom prst="roundRect">
            <a:avLst/>
          </a:prstGeom>
          <a:solidFill>
            <a:srgbClr val="EBF0FA"/>
          </a:solidFill>
          <a:ln>
            <a:solidFill>
              <a:srgbClr val="C8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E5AA0"/>
                </a:solidFill>
              </a:defRPr>
            </a:pPr>
            <a:r>
              <a:t>4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C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02920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defRPr sz="1400" b="1">
                <a:solidFill>
                  <a:srgbClr val="0F1E41"/>
                </a:solidFill>
              </a:defRPr>
            </a:pPr>
            <a:r>
              <a:t>Karakteristik Secondary Dataset</a:t>
            </a:r>
          </a:p>
          <a:p>
            <a:pPr>
              <a:spcBef>
                <a:spcPts val="400"/>
              </a:spcBef>
              <a:defRPr sz="1000">
                <a:solidFill>
                  <a:srgbClr val="191E28"/>
                </a:solidFill>
              </a:defRPr>
            </a:pPr>
            <a:r>
              <a:t>• Sumber Dataset: UCI Machine Learning Repository: Breast Cancer Wisconsin Diagnostic (Wolberg, Street, Mangasarian).</a:t>
            </a:r>
          </a:p>
          <a:p>
            <a:pPr>
              <a:spcBef>
                <a:spcPts val="400"/>
              </a:spcBef>
              <a:defRPr sz="1000">
                <a:solidFill>
                  <a:srgbClr val="191E28"/>
                </a:solidFill>
              </a:defRPr>
            </a:pPr>
            <a:r>
              <a:t>• Dimensi Data: 569 sampel pasien dengan 30 fitur klinis kontinu (tanpa missing values).</a:t>
            </a:r>
          </a:p>
          <a:p>
            <a:pPr>
              <a:spcBef>
                <a:spcPts val="400"/>
              </a:spcBef>
              <a:defRPr sz="1000">
                <a:solidFill>
                  <a:srgbClr val="191E28"/>
                </a:solidFill>
              </a:defRPr>
            </a:pPr>
            <a:r>
              <a:t>• Distribusi Target: 357 Benign (Jinak / 0 = 62.7%) dan 212 Malignant (Ganas / 1 = 37.3%).</a:t>
            </a:r>
          </a:p>
          <a:p>
            <a:pPr>
              <a:spcBef>
                <a:spcPts val="400"/>
              </a:spcBef>
              <a:defRPr sz="1000">
                <a:solidFill>
                  <a:srgbClr val="191E28"/>
                </a:solidFill>
              </a:defRPr>
            </a:pPr>
            <a:r>
              <a:t>• Karakteristik Fitur: 10 atribut inti (radius, texture, perimeter, area, smoothness, compactness, concavity, concave points, symmetry, fractal dimension) dihitung dalam 3 skala: Mean, Standard Error, dan Worst.</a:t>
            </a:r>
          </a:p>
          <a:p>
            <a:pPr>
              <a:spcBef>
                <a:spcPts val="400"/>
              </a:spcBef>
              <a:defRPr sz="1000">
                <a:solidFill>
                  <a:srgbClr val="191E28"/>
                </a:solidFill>
              </a:defRPr>
            </a:pPr>
            <a:r>
              <a:t>• Skema Data Splitting: 80% Training-Validation (455 sampel) dan 20% Holdout Test (114 sampel) dengan Stratified Split untuk menjaga rasio kelas.</a:t>
            </a:r>
          </a:p>
          <a:p>
            <a:pPr>
              <a:spcBef>
                <a:spcPts val="400"/>
              </a:spcBef>
              <a:defRPr sz="1000">
                <a:solidFill>
                  <a:srgbClr val="191E28"/>
                </a:solidFill>
              </a:defRPr>
            </a:pPr>
            <a:r>
              <a:t>• Skema Validasi K-Fold: Stratified 5-Fold Cross-Validation pada set training-val untuk validasi objektif dan penilaian varians model.</a:t>
            </a:r>
          </a:p>
          <a:p>
            <a:pPr>
              <a:spcBef>
                <a:spcPts val="400"/>
              </a:spcBef>
              <a:defRPr sz="1000">
                <a:solidFill>
                  <a:srgbClr val="191E28"/>
                </a:solidFill>
              </a:defRPr>
            </a:pPr>
            <a:r>
              <a:t>• Pencegahan Data Leakage: StandardScaler di-fit secara ketat hanya pada training set fold, lalu diterapkan pada validation/test set.</a:t>
            </a:r>
          </a:p>
        </p:txBody>
      </p:sp>
      <p:pic>
        <p:nvPicPr>
          <p:cNvPr id="6" name="Picture 5" descr="fig1_data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920240"/>
            <a:ext cx="5486400" cy="162014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5AA0"/>
                </a:solidFill>
              </a:defRPr>
            </a:pPr>
            <a:r>
              <a:t>MODEL ARCHITECTURES &amp; TOPOLOGY DESIGN</a:t>
            </a:r>
          </a:p>
          <a:p>
            <a:pPr>
              <a:spcBef>
                <a:spcPts val="300"/>
              </a:spcBef>
              <a:defRPr sz="2200" b="1">
                <a:solidFill>
                  <a:srgbClr val="0F1E41"/>
                </a:solidFill>
              </a:defRPr>
            </a:pPr>
            <a:r>
              <a:t>Arsitektur Neural Network &amp; Deep Learning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607040" y="411480"/>
            <a:ext cx="914400" cy="320040"/>
          </a:xfrm>
          <a:prstGeom prst="roundRect">
            <a:avLst/>
          </a:prstGeom>
          <a:solidFill>
            <a:srgbClr val="EBF0FA"/>
          </a:solidFill>
          <a:ln>
            <a:solidFill>
              <a:srgbClr val="C8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E5AA0"/>
                </a:solidFill>
              </a:defRPr>
            </a:pPr>
            <a:r>
              <a:t>5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C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fig2_architec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10728655" cy="323657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4663440"/>
            <a:ext cx="260604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>
              <a:defRPr sz="1100" b="1">
                <a:solidFill>
                  <a:srgbClr val="1E5AA0"/>
                </a:solidFill>
              </a:defRPr>
            </a:pPr>
            <a:r>
              <a:t>1. Baseline MLP</a:t>
            </a:r>
          </a:p>
          <a:p>
            <a:pPr>
              <a:defRPr sz="950" b="1">
                <a:solidFill>
                  <a:srgbClr val="646E7D"/>
                </a:solidFill>
              </a:defRPr>
            </a:pPr>
            <a:r>
              <a:t>Shallow Feedforward</a:t>
            </a:r>
          </a:p>
          <a:p>
            <a:pPr>
              <a:spcBef>
                <a:spcPts val="300"/>
              </a:spcBef>
              <a:defRPr sz="850">
                <a:solidFill>
                  <a:srgbClr val="191E28"/>
                </a:solidFill>
              </a:defRPr>
            </a:pPr>
            <a:r>
              <a:t>• 1 Hidden: Dense(64, ReLU)</a:t>
            </a:r>
            <a:br/>
            <a:r>
              <a:t>• Output: Dense(1, Sigmoid)</a:t>
            </a:r>
            <a:br/>
            <a:r>
              <a:t>• Parameter: ~1,985</a:t>
            </a:r>
            <a:br/>
            <a:r>
              <a:t>• Fungsi: Baseline non-linear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4663440"/>
            <a:ext cx="260604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>
              <a:defRPr sz="1100" b="1">
                <a:solidFill>
                  <a:srgbClr val="1E5AA0"/>
                </a:solidFill>
              </a:defRPr>
            </a:pPr>
            <a:r>
              <a:t>2. Deep MLP</a:t>
            </a:r>
          </a:p>
          <a:p>
            <a:pPr>
              <a:defRPr sz="950" b="1">
                <a:solidFill>
                  <a:srgbClr val="646E7D"/>
                </a:solidFill>
              </a:defRPr>
            </a:pPr>
            <a:r>
              <a:t>Deep Hierarchical</a:t>
            </a:r>
          </a:p>
          <a:p>
            <a:pPr>
              <a:spcBef>
                <a:spcPts val="300"/>
              </a:spcBef>
              <a:defRPr sz="850">
                <a:solidFill>
                  <a:srgbClr val="191E28"/>
                </a:solidFill>
              </a:defRPr>
            </a:pPr>
            <a:r>
              <a:t>• 3 Hidden: Dense(128)-64-32</a:t>
            </a:r>
            <a:br/>
            <a:r>
              <a:t>• Aktivasi: ReLU berurutan</a:t>
            </a:r>
            <a:br/>
            <a:r>
              <a:t>• Parameter: ~14,529</a:t>
            </a:r>
            <a:br/>
            <a:r>
              <a:t>• Menguji kapasitas representasi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4663440"/>
            <a:ext cx="260604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>
              <a:defRPr sz="1100" b="1">
                <a:solidFill>
                  <a:srgbClr val="1E5AA0"/>
                </a:solidFill>
              </a:defRPr>
            </a:pPr>
            <a:r>
              <a:t>3. Regularized MLP</a:t>
            </a:r>
          </a:p>
          <a:p>
            <a:pPr>
              <a:defRPr sz="950" b="1">
                <a:solidFill>
                  <a:srgbClr val="646E7D"/>
                </a:solidFill>
              </a:defRPr>
            </a:pPr>
            <a:r>
              <a:t>Batch Normalization + Dropout</a:t>
            </a:r>
          </a:p>
          <a:p>
            <a:pPr>
              <a:spcBef>
                <a:spcPts val="300"/>
              </a:spcBef>
              <a:defRPr sz="850">
                <a:solidFill>
                  <a:srgbClr val="191E28"/>
                </a:solidFill>
              </a:defRPr>
            </a:pPr>
            <a:r>
              <a:t>• 3 Layer + BN + Dropout</a:t>
            </a:r>
            <a:br/>
            <a:r>
              <a:t>• Rate: 0.3, 0.2, 0.1</a:t>
            </a:r>
            <a:br/>
            <a:r>
              <a:t>• L2 Regularization (1e-4)</a:t>
            </a:r>
            <a:br/>
            <a:r>
              <a:t>• Menekan covariate shift &amp; overfit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06256" y="4663440"/>
            <a:ext cx="260604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>
              <a:defRPr sz="1100" b="1">
                <a:solidFill>
                  <a:srgbClr val="1E5AA0"/>
                </a:solidFill>
              </a:defRPr>
            </a:pPr>
            <a:r>
              <a:t>4. Residual MLP (ResMLP)</a:t>
            </a:r>
          </a:p>
          <a:p>
            <a:pPr>
              <a:defRPr sz="950" b="1">
                <a:solidFill>
                  <a:srgbClr val="646E7D"/>
                </a:solidFill>
              </a:defRPr>
            </a:pPr>
            <a:r>
              <a:t>Skip Connection Highway</a:t>
            </a:r>
          </a:p>
          <a:p>
            <a:pPr>
              <a:spcBef>
                <a:spcPts val="300"/>
              </a:spcBef>
              <a:defRPr sz="850">
                <a:solidFill>
                  <a:srgbClr val="191E28"/>
                </a:solidFill>
              </a:defRPr>
            </a:pPr>
            <a:r>
              <a:t>• Linear Projection (64) + LN</a:t>
            </a:r>
            <a:br/>
            <a:r>
              <a:t>• 2 Residual Blocks (Skip Add)</a:t>
            </a:r>
            <a:br/>
            <a:r>
              <a:t>• Aktivasi: GELU + LayerNorm</a:t>
            </a:r>
            <a:br/>
            <a:r>
              <a:t>• Aliran gradien halus &amp; optimal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5AA0"/>
                </a:solidFill>
              </a:defRPr>
            </a:pPr>
            <a:r>
              <a:t>OPTIMIZATION STRATEGY &amp; HYPERPARAMETER SEARCH</a:t>
            </a:r>
          </a:p>
          <a:p>
            <a:pPr>
              <a:spcBef>
                <a:spcPts val="300"/>
              </a:spcBef>
              <a:defRPr sz="2200" b="1">
                <a:solidFill>
                  <a:srgbClr val="0F1E41"/>
                </a:solidFill>
              </a:defRPr>
            </a:pPr>
            <a:r>
              <a:t>Strategi Pembelajaran &amp; Tuning Hyperparameter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607040" y="411480"/>
            <a:ext cx="914400" cy="320040"/>
          </a:xfrm>
          <a:prstGeom prst="roundRect">
            <a:avLst/>
          </a:prstGeom>
          <a:solidFill>
            <a:srgbClr val="EBF0FA"/>
          </a:solidFill>
          <a:ln>
            <a:solidFill>
              <a:srgbClr val="C8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E5AA0"/>
                </a:solidFill>
              </a:defRPr>
            </a:pPr>
            <a:r>
              <a:t>6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C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02920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rtlCol="0" anchor="ctr"/>
          <a:lstStyle/>
          <a:p>
            <a:pPr algn="ctr">
              <a:defRPr sz="1300" b="1">
                <a:solidFill>
                  <a:srgbClr val="0F1E41"/>
                </a:solidFill>
              </a:defRPr>
            </a:pPr>
            <a:r>
              <a:t>Komponen Strategi Pembelajaran</a:t>
            </a:r>
          </a:p>
          <a:p>
            <a:pPr>
              <a:spcBef>
                <a:spcPts val="400"/>
              </a:spcBef>
              <a:defRPr sz="1050" b="1">
                <a:solidFill>
                  <a:srgbClr val="1E5AA0"/>
                </a:solidFill>
              </a:defRPr>
            </a:pPr>
            <a:r>
              <a:t>► Loss Function</a:t>
            </a:r>
          </a:p>
          <a:p>
            <a:pPr>
              <a:spcBef>
                <a:spcPts val="100"/>
              </a:spcBef>
              <a:defRPr sz="950">
                <a:solidFill>
                  <a:srgbClr val="191E28"/>
                </a:solidFill>
              </a:defRPr>
            </a:pPr>
            <a:r>
              <a:t>Binary Cross-Entropy Loss: L = -[y log(p) + (1-y) log(1-p)], optimal untuk probabilitas biner tumor ganas.</a:t>
            </a:r>
          </a:p>
          <a:p>
            <a:pPr>
              <a:spcBef>
                <a:spcPts val="400"/>
              </a:spcBef>
              <a:defRPr sz="1050" b="1">
                <a:solidFill>
                  <a:srgbClr val="1E5AA0"/>
                </a:solidFill>
              </a:defRPr>
            </a:pPr>
            <a:r>
              <a:t>► Optimizer Comparison</a:t>
            </a:r>
          </a:p>
          <a:p>
            <a:pPr>
              <a:spcBef>
                <a:spcPts val="100"/>
              </a:spcBef>
              <a:defRPr sz="950">
                <a:solidFill>
                  <a:srgbClr val="191E28"/>
                </a:solidFill>
              </a:defRPr>
            </a:pPr>
            <a:r>
              <a:t>Pengujian komparatif antara Adam (adaptive moment), RMSprop, dan SGD dengan Nesterov Momentum (0.9).</a:t>
            </a:r>
          </a:p>
          <a:p>
            <a:pPr>
              <a:spcBef>
                <a:spcPts val="400"/>
              </a:spcBef>
              <a:defRPr sz="1050" b="1">
                <a:solidFill>
                  <a:srgbClr val="1E5AA0"/>
                </a:solidFill>
              </a:defRPr>
            </a:pPr>
            <a:r>
              <a:t>► Learning Rate Grid Search</a:t>
            </a:r>
          </a:p>
          <a:p>
            <a:pPr>
              <a:spcBef>
                <a:spcPts val="100"/>
              </a:spcBef>
              <a:defRPr sz="950">
                <a:solidFill>
                  <a:srgbClr val="191E28"/>
                </a:solidFill>
              </a:defRPr>
            </a:pPr>
            <a:r>
              <a:t>Eksplorasi nilai base learning rate pada {0.01, 0.001, 0.0001}. Nilai optimal: 0.001 menghasilkan konvergensi tercepat dan stabil.</a:t>
            </a:r>
          </a:p>
          <a:p>
            <a:pPr>
              <a:spcBef>
                <a:spcPts val="400"/>
              </a:spcBef>
              <a:defRPr sz="1050" b="1">
                <a:solidFill>
                  <a:srgbClr val="1E5AA0"/>
                </a:solidFill>
              </a:defRPr>
            </a:pPr>
            <a:r>
              <a:t>► Dynamic LR Scheduler</a:t>
            </a:r>
          </a:p>
          <a:p>
            <a:pPr>
              <a:spcBef>
                <a:spcPts val="100"/>
              </a:spcBef>
              <a:defRPr sz="950">
                <a:solidFill>
                  <a:srgbClr val="191E28"/>
                </a:solidFill>
              </a:defRPr>
            </a:pPr>
            <a:r>
              <a:t>ReduceLROnPlateau dengan faktor pengurangan 0.5 jika validation loss tidak membaik dalam 4-5 epoch (min_lr=1e-5).</a:t>
            </a:r>
          </a:p>
          <a:p>
            <a:pPr>
              <a:spcBef>
                <a:spcPts val="400"/>
              </a:spcBef>
              <a:defRPr sz="1050" b="1">
                <a:solidFill>
                  <a:srgbClr val="1E5AA0"/>
                </a:solidFill>
              </a:defRPr>
            </a:pPr>
            <a:r>
              <a:t>► Early Stopping Regularization</a:t>
            </a:r>
          </a:p>
          <a:p>
            <a:pPr>
              <a:spcBef>
                <a:spcPts val="100"/>
              </a:spcBef>
              <a:defRPr sz="950">
                <a:solidFill>
                  <a:srgbClr val="191E28"/>
                </a:solidFill>
              </a:defRPr>
            </a:pPr>
            <a:r>
              <a:t>Patience 12-15 epoch memantau val_loss dengan restore_best_weights=True untuk mencegah overfitting pada fase akhir.</a:t>
            </a:r>
          </a:p>
          <a:p>
            <a:pPr>
              <a:spcBef>
                <a:spcPts val="400"/>
              </a:spcBef>
              <a:defRPr sz="1050" b="1">
                <a:solidFill>
                  <a:srgbClr val="1E5AA0"/>
                </a:solidFill>
              </a:defRPr>
            </a:pPr>
            <a:r>
              <a:t>► Batch Size &amp; Epochs</a:t>
            </a:r>
          </a:p>
          <a:p>
            <a:pPr>
              <a:spcBef>
                <a:spcPts val="100"/>
              </a:spcBef>
              <a:defRPr sz="950">
                <a:solidFill>
                  <a:srgbClr val="191E28"/>
                </a:solidFill>
              </a:defRPr>
            </a:pPr>
            <a:r>
              <a:t>Mini-batch size = 32 untuk menyeimbangkan stochastic noise dan efisiensi vektorisasi; Max Epochs = 70.</a:t>
            </a:r>
          </a:p>
        </p:txBody>
      </p:sp>
      <p:pic>
        <p:nvPicPr>
          <p:cNvPr id="6" name="Picture 5" descr="fig5_optimizer_tu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920240"/>
            <a:ext cx="5486400" cy="193405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5AA0"/>
                </a:solidFill>
              </a:defRPr>
            </a:pPr>
            <a:r>
              <a:t>EXPERIMENT RESULTS - PART 1: CROSS-VALIDATION METRICS</a:t>
            </a:r>
          </a:p>
          <a:p>
            <a:pPr>
              <a:spcBef>
                <a:spcPts val="300"/>
              </a:spcBef>
              <a:defRPr sz="2200" b="1">
                <a:solidFill>
                  <a:srgbClr val="0F1E41"/>
                </a:solidFill>
              </a:defRPr>
            </a:pPr>
            <a:r>
              <a:t>Hasil Eksperimen (1): Kinerja 5-Fold Cross-Validation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607040" y="411480"/>
            <a:ext cx="914400" cy="320040"/>
          </a:xfrm>
          <a:prstGeom prst="roundRect">
            <a:avLst/>
          </a:prstGeom>
          <a:solidFill>
            <a:srgbClr val="EBF0FA"/>
          </a:solidFill>
          <a:ln>
            <a:solidFill>
              <a:srgbClr val="C8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E5AA0"/>
                </a:solidFill>
              </a:defRPr>
            </a:pPr>
            <a:r>
              <a:t>7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C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fig3_kfold_cv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669280" cy="257261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0" y="1645920"/>
            <a:ext cx="4876495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200" b="1">
                <a:solidFill>
                  <a:srgbClr val="0F1E41"/>
                </a:solidFill>
              </a:defRPr>
            </a:pPr>
            <a:r>
              <a:t>Tabel Rangkuman Kinerja 5-Fold CV (Mean ± Std)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720840" y="2194560"/>
          <a:ext cx="45720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0F1E4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0F1E4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0F1E4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F1-Score</a:t>
                      </a:r>
                    </a:p>
                  </a:txBody>
                  <a:tcPr>
                    <a:solidFill>
                      <a:srgbClr val="0F1E4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ROC-AUC</a:t>
                      </a:r>
                    </a:p>
                  </a:txBody>
                  <a:tcPr>
                    <a:solidFill>
                      <a:srgbClr val="0F1E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91E28"/>
                          </a:solidFill>
                        </a:defRPr>
                      </a:pPr>
                      <a:r>
                        <a:t>Baseline MLP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91E28"/>
                          </a:solidFill>
                        </a:defRPr>
                      </a:pPr>
                      <a:r>
                        <a:t>98.02% (±1.08)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91E28"/>
                          </a:solidFill>
                        </a:defRPr>
                      </a:pPr>
                      <a:r>
                        <a:t>97.06% (±1.86)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91E28"/>
                          </a:solidFill>
                        </a:defRPr>
                      </a:pPr>
                      <a:r>
                        <a:t>97.35% (±1.44)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91E28"/>
                          </a:solidFill>
                        </a:defRPr>
                      </a:pPr>
                      <a:r>
                        <a:t>0.9957 (±0.005)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91E28"/>
                          </a:solidFill>
                        </a:defRPr>
                      </a:pPr>
                      <a:r>
                        <a:t>Deep MLP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91E28"/>
                          </a:solidFill>
                        </a:defRPr>
                      </a:pPr>
                      <a:r>
                        <a:t>97.58% (±1.28)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91E28"/>
                          </a:solidFill>
                        </a:defRPr>
                      </a:pPr>
                      <a:r>
                        <a:t>97.06% (±3.22)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91E28"/>
                          </a:solidFill>
                        </a:defRPr>
                      </a:pPr>
                      <a:r>
                        <a:t>96.77% (±1.75)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91E28"/>
                          </a:solidFill>
                        </a:defRPr>
                      </a:pPr>
                      <a:r>
                        <a:t>0.9955 (±0.004)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91E28"/>
                          </a:solidFill>
                        </a:defRPr>
                      </a:pPr>
                      <a:r>
                        <a:t>Regularized MLP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91E28"/>
                          </a:solidFill>
                        </a:defRPr>
                      </a:pPr>
                      <a:r>
                        <a:t>98.02% (±0.82)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91E28"/>
                          </a:solidFill>
                        </a:defRPr>
                      </a:pPr>
                      <a:r>
                        <a:t>95.88% (±2.35)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91E28"/>
                          </a:solidFill>
                        </a:defRPr>
                      </a:pPr>
                      <a:r>
                        <a:t>97.30% (±1.16)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91E28"/>
                          </a:solidFill>
                        </a:defRPr>
                      </a:pPr>
                      <a:r>
                        <a:t>0.9938 (±0.007)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91E28"/>
                          </a:solidFill>
                        </a:defRPr>
                      </a:pPr>
                      <a:r>
                        <a:t>Residual MLP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91E28"/>
                          </a:solidFill>
                        </a:defRPr>
                      </a:pPr>
                      <a:r>
                        <a:t>97.36% (±0.88)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91E28"/>
                          </a:solidFill>
                        </a:defRPr>
                      </a:pPr>
                      <a:r>
                        <a:t>96.47% (±2.20)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91E28"/>
                          </a:solidFill>
                        </a:defRPr>
                      </a:pPr>
                      <a:r>
                        <a:t>96.46% (±1.20)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91E28"/>
                          </a:solidFill>
                        </a:defRPr>
                      </a:pPr>
                      <a:r>
                        <a:t>0.9936 (±0.004)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720840" y="4434840"/>
            <a:ext cx="4572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E5AA0"/>
                </a:solidFill>
              </a:defRPr>
            </a:pPr>
            <a:r>
              <a:t>Analisis Temuan 5-Fold CV:</a:t>
            </a:r>
          </a:p>
          <a:p>
            <a:pPr>
              <a:spcBef>
                <a:spcPts val="300"/>
              </a:spcBef>
              <a:defRPr sz="900">
                <a:solidFill>
                  <a:srgbClr val="191E28"/>
                </a:solidFill>
              </a:defRPr>
            </a:pPr>
            <a:r>
              <a:t>• Semua arsitektur mencapai akurasi rata-rata di atas 97.3% dan ROC-AUC di atas 0.993, membuktikan kekuatan representasi neural network pada data FNA.</a:t>
            </a:r>
          </a:p>
          <a:p>
            <a:pPr>
              <a:spcBef>
                <a:spcPts val="300"/>
              </a:spcBef>
              <a:defRPr sz="900">
                <a:solidFill>
                  <a:srgbClr val="191E28"/>
                </a:solidFill>
              </a:defRPr>
            </a:pPr>
            <a:r>
              <a:t>• Regularized MLP memiliki standar deviasi akurasi terendah (±0.82%), menunjukkan stabilitas prediksi paling konsisten antar fold.</a:t>
            </a:r>
          </a:p>
          <a:p>
            <a:pPr>
              <a:spcBef>
                <a:spcPts val="300"/>
              </a:spcBef>
              <a:defRPr sz="900">
                <a:solidFill>
                  <a:srgbClr val="191E28"/>
                </a:solidFill>
              </a:defRPr>
            </a:pPr>
            <a:r>
              <a:t>• Baseline MLP sangat kompetitif pada 30 fitur karena jumlah parameter yang ringkas membatasi risiko overfitting awal.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5AA0"/>
                </a:solidFill>
              </a:defRPr>
            </a:pPr>
            <a:r>
              <a:t>EXPERIMENT RESULTS - PART 2: TRAINING CONVERGENCE &amp; LOSS DYNAMICS</a:t>
            </a:r>
          </a:p>
          <a:p>
            <a:pPr>
              <a:spcBef>
                <a:spcPts val="300"/>
              </a:spcBef>
              <a:defRPr sz="2200" b="1">
                <a:solidFill>
                  <a:srgbClr val="0F1E41"/>
                </a:solidFill>
              </a:defRPr>
            </a:pPr>
            <a:r>
              <a:t>Hasil Eksperimen (2): Dinamika Konvergensi &amp; Learning Curves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607040" y="411480"/>
            <a:ext cx="914400" cy="320040"/>
          </a:xfrm>
          <a:prstGeom prst="roundRect">
            <a:avLst/>
          </a:prstGeom>
          <a:solidFill>
            <a:srgbClr val="EBF0FA"/>
          </a:solidFill>
          <a:ln>
            <a:solidFill>
              <a:srgbClr val="C8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E5AA0"/>
                </a:solidFill>
              </a:defRPr>
            </a:pPr>
            <a:r>
              <a:t>8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C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fig4_lear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400800" cy="225639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0" y="1645920"/>
            <a:ext cx="4144975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0F1E41"/>
                </a:solidFill>
              </a:defRPr>
            </a:pPr>
            <a:r>
              <a:t>Analisis Kurva Pembelajaran</a:t>
            </a:r>
          </a:p>
          <a:p>
            <a:pPr>
              <a:spcBef>
                <a:spcPts val="600"/>
              </a:spcBef>
              <a:defRPr sz="1050" b="1">
                <a:solidFill>
                  <a:srgbClr val="1E5AA0"/>
                </a:solidFill>
              </a:defRPr>
            </a:pPr>
            <a:r>
              <a:t>► Efek Overfitting pada Deep MLP</a:t>
            </a:r>
          </a:p>
          <a:p>
            <a:pPr>
              <a:spcBef>
                <a:spcPts val="200"/>
              </a:spcBef>
              <a:defRPr sz="950">
                <a:solidFill>
                  <a:srgbClr val="191E28"/>
                </a:solidFill>
              </a:defRPr>
            </a:pPr>
            <a:r>
              <a:t>Deep MLP tanpa regularisasi menunjukkan celah (gap) yang melebar antara train loss dan validation loss setelah epoch ke-25, mengindikasikan memorisasi sampel pelatihan.</a:t>
            </a:r>
          </a:p>
          <a:p>
            <a:pPr>
              <a:spcBef>
                <a:spcPts val="600"/>
              </a:spcBef>
              <a:defRPr sz="1050" b="1">
                <a:solidFill>
                  <a:srgbClr val="1E5AA0"/>
                </a:solidFill>
              </a:defRPr>
            </a:pPr>
            <a:r>
              <a:t>► Stabilisasi Batch Normalization</a:t>
            </a:r>
          </a:p>
          <a:p>
            <a:pPr>
              <a:spcBef>
                <a:spcPts val="200"/>
              </a:spcBef>
              <a:defRPr sz="950">
                <a:solidFill>
                  <a:srgbClr val="191E28"/>
                </a:solidFill>
              </a:defRPr>
            </a:pPr>
            <a:r>
              <a:t>Regularized MLP menunjukkan kurva penurunan loss yang sangat teratur. Batch Normalization efektif menstabilkan distribusi input antar layer (internal covariate shift).</a:t>
            </a:r>
          </a:p>
          <a:p>
            <a:pPr>
              <a:spcBef>
                <a:spcPts val="600"/>
              </a:spcBef>
              <a:defRPr sz="1050" b="1">
                <a:solidFill>
                  <a:srgbClr val="1E5AA0"/>
                </a:solidFill>
              </a:defRPr>
            </a:pPr>
            <a:r>
              <a:t>► Efek Residual Highway (ResMLP)</a:t>
            </a:r>
          </a:p>
          <a:p>
            <a:pPr>
              <a:spcBef>
                <a:spcPts val="200"/>
              </a:spcBef>
              <a:defRPr sz="950">
                <a:solidFill>
                  <a:srgbClr val="191E28"/>
                </a:solidFill>
              </a:defRPr>
            </a:pPr>
            <a:r>
              <a:t>Skip connection memungkinkan aliran gradien balik tanpa degradasi, menghasilkan konvergensi akurasi validasi yang mulus dan cepat mencapai di atas 97%.</a:t>
            </a:r>
          </a:p>
          <a:p>
            <a:pPr>
              <a:spcBef>
                <a:spcPts val="600"/>
              </a:spcBef>
              <a:defRPr sz="1050" b="1">
                <a:solidFill>
                  <a:srgbClr val="1E5AA0"/>
                </a:solidFill>
              </a:defRPr>
            </a:pPr>
            <a:r>
              <a:t>► Dampak Dynamic Learning Rate</a:t>
            </a:r>
          </a:p>
          <a:p>
            <a:pPr>
              <a:spcBef>
                <a:spcPts val="200"/>
              </a:spcBef>
              <a:defRPr sz="950">
                <a:solidFill>
                  <a:srgbClr val="191E28"/>
                </a:solidFill>
              </a:defRPr>
            </a:pPr>
            <a:r>
              <a:t>ReduceLROnPlateau berhasil menurunkan loss secara tajam ketika kurva mulai mendatar (plateau) pada pertengahan pelatihan.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5AA0"/>
                </a:solidFill>
              </a:defRPr>
            </a:pPr>
            <a:r>
              <a:t>EXPERIMENT RESULTS - PART 3: HOLDOUT TEST SET &amp; CLINICAL TRADE-OFFS</a:t>
            </a:r>
          </a:p>
          <a:p>
            <a:pPr>
              <a:spcBef>
                <a:spcPts val="300"/>
              </a:spcBef>
              <a:defRPr sz="2200" b="1">
                <a:solidFill>
                  <a:srgbClr val="0F1E41"/>
                </a:solidFill>
              </a:defRPr>
            </a:pPr>
            <a:r>
              <a:t>Hasil Eksperimen (3): Evaluasi Test Set &amp; Matriks Kebingungan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607040" y="411480"/>
            <a:ext cx="914400" cy="320040"/>
          </a:xfrm>
          <a:prstGeom prst="roundRect">
            <a:avLst/>
          </a:prstGeom>
          <a:solidFill>
            <a:srgbClr val="EBF0FA"/>
          </a:solidFill>
          <a:ln>
            <a:solidFill>
              <a:srgbClr val="C8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E5AA0"/>
                </a:solidFill>
              </a:defRPr>
            </a:pPr>
            <a:r>
              <a:t>9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C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fig6_test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10728655" cy="2515340"/>
          </a:xfrm>
          <a:prstGeom prst="rect">
            <a:avLst/>
          </a:prstGeom>
        </p:spPr>
      </p:pic>
      <p:pic>
        <p:nvPicPr>
          <p:cNvPr id="6" name="Picture 5" descr="fig7_roc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114800"/>
            <a:ext cx="3108960" cy="232188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0" y="4114800"/>
            <a:ext cx="734537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rtlCol="0" anchor="ctr"/>
          <a:lstStyle/>
          <a:p>
            <a:pPr algn="ctr">
              <a:defRPr sz="1100" b="1">
                <a:solidFill>
                  <a:srgbClr val="0F1E41"/>
                </a:solidFill>
              </a:defRPr>
            </a:pPr>
            <a:r>
              <a:t>Analisis Keputusan Klinis (Clinical Trade-Off) pada 114 Pasien Uji:</a:t>
            </a:r>
          </a:p>
          <a:p>
            <a:pPr>
              <a:spcBef>
                <a:spcPts val="300"/>
              </a:spcBef>
              <a:defRPr sz="900">
                <a:solidFill>
                  <a:srgbClr val="191E28"/>
                </a:solidFill>
              </a:defRPr>
            </a:pPr>
            <a:r>
              <a:t>• Regularized MLP (Presisi Sempurna = 100%): Menghasilkan 0 False Positive (tidak ada pasien sehat yang didiagnosis ganas), dengan Akurasi 98.25% dan ROC-AUC tertinggi (0.9977). Sangat ideal untuk meminimalkan beban psikologis dan biopsi ulang yang tidak perlu.</a:t>
            </a:r>
          </a:p>
          <a:p>
            <a:pPr>
              <a:spcBef>
                <a:spcPts val="300"/>
              </a:spcBef>
              <a:defRPr sz="900">
                <a:solidFill>
                  <a:srgbClr val="191E28"/>
                </a:solidFill>
              </a:defRPr>
            </a:pPr>
            <a:r>
              <a:t>• Residual MLP (Sensitivitas / Recall Tertinggi = 97.62%): Hanya menyisakan 1 False Negative dari 42 kasus kanker ganas! Dalam onkologi medis, meminimalkan False Negative adalah prioritas keselamatan tertinggi agar pasien kanker tidak terlewatkan pengobatan.</a:t>
            </a:r>
          </a:p>
          <a:p>
            <a:pPr>
              <a:spcBef>
                <a:spcPts val="300"/>
              </a:spcBef>
              <a:defRPr sz="900">
                <a:solidFill>
                  <a:srgbClr val="191E28"/>
                </a:solidFill>
              </a:defRPr>
            </a:pPr>
            <a:r>
              <a:t>• Kesimpulan Komparasi Test Set: Baik Regularized MLP maupun Residual MLP mengungguli Deep MLP unregularized (Akurasi 96.49%), membuktikan bahwa desain arsitektur modern dan regularisasi merupakan faktor penentu performa.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5AA0"/>
                </a:solidFill>
              </a:defRPr>
            </a:pPr>
            <a:r>
              <a:t>CONCLUSION &amp; KEY TAKEAWAYS</a:t>
            </a:r>
          </a:p>
          <a:p>
            <a:pPr>
              <a:spcBef>
                <a:spcPts val="300"/>
              </a:spcBef>
              <a:defRPr sz="2200" b="1">
                <a:solidFill>
                  <a:srgbClr val="0F1E41"/>
                </a:solidFill>
              </a:defRPr>
            </a:pPr>
            <a:r>
              <a:t>Kesimpulan &amp; Pembelajaran Proyek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607040" y="411480"/>
            <a:ext cx="914400" cy="320040"/>
          </a:xfrm>
          <a:prstGeom prst="roundRect">
            <a:avLst/>
          </a:prstGeom>
          <a:solidFill>
            <a:srgbClr val="EBF0FA"/>
          </a:solidFill>
          <a:ln>
            <a:solidFill>
              <a:srgbClr val="C8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E5AA0"/>
                </a:solidFill>
              </a:defRPr>
            </a:pPr>
            <a:r>
              <a:t>10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C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200" b="1">
                <a:solidFill>
                  <a:srgbClr val="1E5AA0"/>
                </a:solidFill>
              </a:defRPr>
            </a:pPr>
            <a:r>
              <a:t>1. Kelayakan Deep Learning pada Data Medis Tabular</a:t>
            </a:r>
          </a:p>
          <a:p>
            <a:pPr>
              <a:spcBef>
                <a:spcPts val="600"/>
              </a:spcBef>
              <a:defRPr sz="1000">
                <a:solidFill>
                  <a:srgbClr val="191E28"/>
                </a:solidFill>
              </a:defRPr>
            </a:pPr>
            <a:r>
              <a:t>Neural Network terbukti sangat efektif memodelkan 30 fitur morfologis inti sel FNA, menghasilkan akurasi hingga 98.25% dan ROC-AUC 0.9977 pada data uji yang belum pernah dilihat sebelumnya.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645920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200" b="1">
                <a:solidFill>
                  <a:srgbClr val="148250"/>
                </a:solidFill>
              </a:defRPr>
            </a:pPr>
            <a:r>
              <a:t>2. Peran Krusial Regularisasi &amp; Normalisasi</a:t>
            </a:r>
          </a:p>
          <a:p>
            <a:pPr>
              <a:spcBef>
                <a:spcPts val="600"/>
              </a:spcBef>
              <a:defRPr sz="1000">
                <a:solidFill>
                  <a:srgbClr val="191E28"/>
                </a:solidFill>
              </a:defRPr>
            </a:pPr>
            <a:r>
              <a:t>Deep MLP tanpa regularisasi rentan mengalami overfitting (gap train-val loss melebar). Penambahan Batch Normalization, Dropout berjenjang (0.3-0.1), dan L2 regularizer berhasil mengeliminasi False Positive hingga 0.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77639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200" b="1">
                <a:solidFill>
                  <a:srgbClr val="8C3296"/>
                </a:solidFill>
              </a:defRPr>
            </a:pPr>
            <a:r>
              <a:t>3. Keunggulan Arsitektur Residual (Res-MLP)</a:t>
            </a:r>
          </a:p>
          <a:p>
            <a:pPr>
              <a:spcBef>
                <a:spcPts val="600"/>
              </a:spcBef>
              <a:defRPr sz="1000">
                <a:solidFill>
                  <a:srgbClr val="191E28"/>
                </a:solidFill>
              </a:defRPr>
            </a:pPr>
            <a:r>
              <a:t>Penerapan skip connection (Residual block) menghasilkan Recall/Sensitivitas tertinggi (97.62%), meminimalkan False Negative menjadi hanya 1 kasus. Karakteristik ini paling aman untuk sistem pendukung keputusan klinis (CDSS).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3977639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200" b="1">
                <a:solidFill>
                  <a:srgbClr val="C86414"/>
                </a:solidFill>
              </a:defRPr>
            </a:pPr>
            <a:r>
              <a:t>4. Efektivitas Strategi Optimasi Adaptif</a:t>
            </a:r>
          </a:p>
          <a:p>
            <a:pPr>
              <a:spcBef>
                <a:spcPts val="600"/>
              </a:spcBef>
              <a:defRPr sz="1000">
                <a:solidFill>
                  <a:srgbClr val="191E28"/>
                </a:solidFill>
              </a:defRPr>
            </a:pPr>
            <a:r>
              <a:t>Kombinasi optimizer Adam dengan ReduceLROnPlateau scheduler memberikan konvergensi loss tercepat dan paling stabil dibandingkan SGD dan RMSprop.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5AA0"/>
                </a:solidFill>
              </a:defRPr>
            </a:pPr>
            <a:r>
              <a:t>SOURCE CODE URL &amp; PROJECT STRUCTURE</a:t>
            </a:r>
          </a:p>
          <a:p>
            <a:pPr>
              <a:spcBef>
                <a:spcPts val="300"/>
              </a:spcBef>
              <a:defRPr sz="2200" b="1">
                <a:solidFill>
                  <a:srgbClr val="0F1E41"/>
                </a:solidFill>
              </a:defRPr>
            </a:pPr>
            <a:r>
              <a:t>Repositori Kode &amp; Struktur Proyek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607040" y="411480"/>
            <a:ext cx="914400" cy="320040"/>
          </a:xfrm>
          <a:prstGeom prst="roundRect">
            <a:avLst/>
          </a:prstGeom>
          <a:solidFill>
            <a:srgbClr val="EBF0FA"/>
          </a:solidFill>
          <a:ln>
            <a:solidFill>
              <a:srgbClr val="C8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E5AA0"/>
                </a:solidFill>
              </a:defRPr>
            </a:pPr>
            <a:r>
              <a:t>11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C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defRPr sz="1400" b="1">
                <a:solidFill>
                  <a:srgbClr val="0F1E41"/>
                </a:solidFill>
              </a:defRPr>
            </a:pPr>
            <a:r>
              <a:rPr dirty="0" err="1"/>
              <a:t>Tautan</a:t>
            </a:r>
            <a:r>
              <a:rPr dirty="0"/>
              <a:t> </a:t>
            </a:r>
            <a:r>
              <a:rPr dirty="0" err="1"/>
              <a:t>Repositori</a:t>
            </a:r>
            <a:r>
              <a:rPr dirty="0"/>
              <a:t> GitHub &amp; Kode </a:t>
            </a:r>
            <a:r>
              <a:rPr dirty="0" err="1"/>
              <a:t>Sumber</a:t>
            </a:r>
            <a:endParaRPr dirty="0"/>
          </a:p>
          <a:p>
            <a:pPr>
              <a:spcBef>
                <a:spcPts val="800"/>
              </a:spcBef>
              <a:defRPr sz="1200" b="1">
                <a:solidFill>
                  <a:srgbClr val="1E5AA0"/>
                </a:solidFill>
              </a:defRPr>
            </a:pPr>
            <a:r>
              <a:rPr dirty="0"/>
              <a:t>GitHub URL: https://github.com/fransalwan/pmml-mini-project</a:t>
            </a:r>
          </a:p>
          <a:p>
            <a:pPr>
              <a:spcBef>
                <a:spcPts val="1200"/>
              </a:spcBef>
              <a:defRPr sz="1100" b="1">
                <a:solidFill>
                  <a:srgbClr val="191E28"/>
                </a:solidFill>
              </a:defRPr>
            </a:pPr>
            <a:r>
              <a:rPr dirty="0"/>
              <a:t>Langkah </a:t>
            </a:r>
            <a:r>
              <a:rPr dirty="0" err="1"/>
              <a:t>Reproduksi</a:t>
            </a:r>
            <a:r>
              <a:rPr dirty="0"/>
              <a:t> </a:t>
            </a:r>
            <a:r>
              <a:rPr dirty="0" err="1"/>
              <a:t>Proyek</a:t>
            </a:r>
            <a:r>
              <a:rPr dirty="0"/>
              <a:t> (Reproducibility):</a:t>
            </a:r>
          </a:p>
          <a:p>
            <a:pPr>
              <a:spcBef>
                <a:spcPts val="300"/>
              </a:spcBef>
              <a:defRPr sz="950">
                <a:solidFill>
                  <a:srgbClr val="191E28"/>
                </a:solidFill>
              </a:defRPr>
            </a:pPr>
            <a:r>
              <a:rPr dirty="0"/>
              <a:t>1. Clone </a:t>
            </a:r>
            <a:r>
              <a:rPr dirty="0" err="1"/>
              <a:t>repositori</a:t>
            </a:r>
            <a:r>
              <a:rPr dirty="0"/>
              <a:t>: git clone &lt;</a:t>
            </a:r>
            <a:r>
              <a:rPr dirty="0" err="1"/>
              <a:t>repo_url</a:t>
            </a:r>
            <a:r>
              <a:rPr dirty="0"/>
              <a:t>&gt;</a:t>
            </a:r>
          </a:p>
          <a:p>
            <a:pPr>
              <a:spcBef>
                <a:spcPts val="300"/>
              </a:spcBef>
              <a:defRPr sz="950">
                <a:solidFill>
                  <a:srgbClr val="191E28"/>
                </a:solidFill>
              </a:defRPr>
            </a:pPr>
            <a:r>
              <a:rPr dirty="0"/>
              <a:t>2. Masuk </a:t>
            </a:r>
            <a:r>
              <a:rPr dirty="0" err="1"/>
              <a:t>ke</a:t>
            </a:r>
            <a:r>
              <a:rPr dirty="0"/>
              <a:t> </a:t>
            </a:r>
            <a:r>
              <a:rPr dirty="0" err="1"/>
              <a:t>direktori</a:t>
            </a:r>
            <a:r>
              <a:rPr dirty="0"/>
              <a:t>: cd </a:t>
            </a:r>
            <a:r>
              <a:rPr dirty="0" err="1"/>
              <a:t>pmml</a:t>
            </a:r>
            <a:r>
              <a:rPr dirty="0"/>
              <a:t>-mini-project</a:t>
            </a:r>
          </a:p>
          <a:p>
            <a:pPr>
              <a:spcBef>
                <a:spcPts val="300"/>
              </a:spcBef>
              <a:defRPr sz="950">
                <a:solidFill>
                  <a:srgbClr val="191E28"/>
                </a:solidFill>
              </a:defRPr>
            </a:pPr>
            <a:r>
              <a:rPr dirty="0"/>
              <a:t>3. Install </a:t>
            </a:r>
            <a:r>
              <a:rPr dirty="0" err="1"/>
              <a:t>dependensi</a:t>
            </a:r>
            <a:r>
              <a:rPr dirty="0"/>
              <a:t>: pip install -r requirements.txt</a:t>
            </a:r>
          </a:p>
          <a:p>
            <a:pPr>
              <a:spcBef>
                <a:spcPts val="300"/>
              </a:spcBef>
              <a:defRPr sz="950">
                <a:solidFill>
                  <a:srgbClr val="191E28"/>
                </a:solidFill>
              </a:defRPr>
            </a:pPr>
            <a:r>
              <a:rPr dirty="0"/>
              <a:t>4. </a:t>
            </a:r>
            <a:r>
              <a:rPr dirty="0" err="1"/>
              <a:t>Jalankan</a:t>
            </a:r>
            <a:r>
              <a:rPr dirty="0"/>
              <a:t> </a:t>
            </a:r>
            <a:r>
              <a:rPr dirty="0" err="1"/>
              <a:t>eksperimen</a:t>
            </a:r>
            <a:r>
              <a:rPr dirty="0"/>
              <a:t>: python src/train_eval.py</a:t>
            </a:r>
          </a:p>
          <a:p>
            <a:pPr>
              <a:spcBef>
                <a:spcPts val="300"/>
              </a:spcBef>
              <a:defRPr sz="950">
                <a:solidFill>
                  <a:srgbClr val="191E28"/>
                </a:solidFill>
              </a:defRPr>
            </a:pPr>
            <a:r>
              <a:rPr dirty="0"/>
              <a:t>5. Generate </a:t>
            </a:r>
            <a:r>
              <a:rPr dirty="0" err="1"/>
              <a:t>grafik</a:t>
            </a:r>
            <a:r>
              <a:rPr dirty="0"/>
              <a:t>: python src/generate_plots.py</a:t>
            </a:r>
          </a:p>
          <a:p>
            <a:pPr>
              <a:spcBef>
                <a:spcPts val="300"/>
              </a:spcBef>
              <a:defRPr sz="950">
                <a:solidFill>
                  <a:srgbClr val="191E28"/>
                </a:solidFill>
              </a:defRPr>
            </a:pPr>
            <a:r>
              <a:rPr dirty="0"/>
              <a:t>6. Buka </a:t>
            </a:r>
            <a:r>
              <a:rPr dirty="0" err="1"/>
              <a:t>Jupyter</a:t>
            </a:r>
            <a:r>
              <a:rPr dirty="0"/>
              <a:t> Notebook: </a:t>
            </a:r>
            <a:r>
              <a:rPr dirty="0" err="1"/>
              <a:t>jupyter</a:t>
            </a:r>
            <a:r>
              <a:rPr dirty="0"/>
              <a:t> notebook </a:t>
            </a:r>
            <a:r>
              <a:rPr dirty="0" err="1"/>
              <a:t>pmml_mini_project.ipynb</a:t>
            </a:r>
            <a:endParaRPr dirty="0"/>
          </a:p>
        </p:txBody>
      </p:sp>
      <p:sp>
        <p:nvSpPr>
          <p:cNvPr id="6" name="Rounded Rectangle 5"/>
          <p:cNvSpPr/>
          <p:nvPr/>
        </p:nvSpPr>
        <p:spPr>
          <a:xfrm>
            <a:off x="6492240" y="1645920"/>
            <a:ext cx="4967935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defRPr sz="1400" b="1">
                <a:solidFill>
                  <a:srgbClr val="0F1E41"/>
                </a:solidFill>
              </a:defRPr>
            </a:pPr>
            <a:r>
              <a:rPr dirty="0" err="1"/>
              <a:t>Struktur</a:t>
            </a:r>
            <a:r>
              <a:rPr dirty="0"/>
              <a:t> </a:t>
            </a:r>
            <a:r>
              <a:rPr dirty="0" err="1"/>
              <a:t>Direktori</a:t>
            </a:r>
            <a:r>
              <a:rPr dirty="0"/>
              <a:t> </a:t>
            </a:r>
            <a:r>
              <a:rPr dirty="0" err="1"/>
              <a:t>Repositori</a:t>
            </a:r>
            <a:endParaRPr dirty="0"/>
          </a:p>
          <a:p>
            <a:pPr>
              <a:spcBef>
                <a:spcPts val="800"/>
              </a:spcBef>
              <a:defRPr sz="850">
                <a:solidFill>
                  <a:srgbClr val="191E28"/>
                </a:solidFill>
                <a:latin typeface="Consolas"/>
              </a:defRPr>
            </a:pPr>
            <a:r>
              <a:rPr dirty="0" err="1"/>
              <a:t>pmml</a:t>
            </a:r>
            <a:r>
              <a:rPr dirty="0"/>
              <a:t>-mini-project/</a:t>
            </a:r>
            <a:br>
              <a:rPr dirty="0"/>
            </a:br>
            <a:r>
              <a:rPr dirty="0"/>
              <a:t>├── assets/                  # 7 Scientific Plots &amp; Figures</a:t>
            </a:r>
            <a:br>
              <a:rPr dirty="0"/>
            </a:br>
            <a:r>
              <a:rPr dirty="0"/>
              <a:t>│   ├── fig1_data_distribution.png</a:t>
            </a:r>
            <a:br>
              <a:rPr dirty="0"/>
            </a:br>
            <a:r>
              <a:rPr dirty="0"/>
              <a:t>│   ├── fig2_architectures.png</a:t>
            </a:r>
            <a:br>
              <a:rPr dirty="0"/>
            </a:br>
            <a:r>
              <a:rPr dirty="0"/>
              <a:t>│   ├── fig3_kfold_cv_results.png</a:t>
            </a:r>
            <a:br>
              <a:rPr dirty="0"/>
            </a:br>
            <a:r>
              <a:rPr dirty="0"/>
              <a:t>│   ├── fig4_learning_curves.png</a:t>
            </a:r>
            <a:br>
              <a:rPr dirty="0"/>
            </a:br>
            <a:r>
              <a:rPr dirty="0"/>
              <a:t>│   ├── fig5_optimizer_tuning.png</a:t>
            </a:r>
            <a:br>
              <a:rPr dirty="0"/>
            </a:br>
            <a:r>
              <a:rPr dirty="0"/>
              <a:t>│   ├── fig6_test_confusion_matrix.png</a:t>
            </a:r>
            <a:br>
              <a:rPr dirty="0"/>
            </a:br>
            <a:r>
              <a:rPr dirty="0"/>
              <a:t>│   └── fig7_roc_curves.png</a:t>
            </a:r>
            <a:br>
              <a:rPr dirty="0"/>
            </a:br>
            <a:r>
              <a:rPr dirty="0"/>
              <a:t>├── data/                    # Secondary Dataset (CSV)</a:t>
            </a:r>
            <a:br>
              <a:rPr dirty="0"/>
            </a:br>
            <a:r>
              <a:rPr dirty="0"/>
              <a:t>│   └── breast_cancer.csv</a:t>
            </a:r>
            <a:br>
              <a:rPr dirty="0"/>
            </a:br>
            <a:r>
              <a:rPr dirty="0"/>
              <a:t>├── results/                 # JSON Experiment Outputs</a:t>
            </a:r>
            <a:br>
              <a:rPr dirty="0"/>
            </a:br>
            <a:r>
              <a:rPr dirty="0"/>
              <a:t>│   ├── </a:t>
            </a:r>
            <a:r>
              <a:rPr dirty="0" err="1"/>
              <a:t>kfold_results.json</a:t>
            </a:r>
            <a:br>
              <a:rPr dirty="0"/>
            </a:br>
            <a:r>
              <a:rPr dirty="0"/>
              <a:t>│   ├── </a:t>
            </a:r>
            <a:r>
              <a:rPr dirty="0" err="1"/>
              <a:t>optimizer_results.json</a:t>
            </a:r>
            <a:br>
              <a:rPr dirty="0"/>
            </a:br>
            <a:r>
              <a:rPr dirty="0"/>
              <a:t>│   ├── </a:t>
            </a:r>
            <a:r>
              <a:rPr dirty="0" err="1"/>
              <a:t>lr_results.json</a:t>
            </a:r>
            <a:br>
              <a:rPr dirty="0"/>
            </a:br>
            <a:r>
              <a:rPr dirty="0"/>
              <a:t>│   └── </a:t>
            </a:r>
            <a:r>
              <a:rPr dirty="0" err="1"/>
              <a:t>test_results.json</a:t>
            </a:r>
            <a:br>
              <a:rPr dirty="0"/>
            </a:br>
            <a:r>
              <a:rPr dirty="0"/>
              <a:t>├── </a:t>
            </a:r>
            <a:r>
              <a:rPr dirty="0" err="1"/>
              <a:t>src</a:t>
            </a:r>
            <a:r>
              <a:rPr dirty="0"/>
              <a:t>/                     # Modular Python Scripts</a:t>
            </a:r>
            <a:br>
              <a:rPr dirty="0"/>
            </a:br>
            <a:r>
              <a:rPr dirty="0"/>
              <a:t>│   ├── data_loader.py</a:t>
            </a:r>
            <a:br>
              <a:rPr dirty="0"/>
            </a:br>
            <a:r>
              <a:rPr dirty="0"/>
              <a:t>│   ├── models.py</a:t>
            </a:r>
            <a:br>
              <a:rPr dirty="0"/>
            </a:br>
            <a:r>
              <a:rPr dirty="0"/>
              <a:t>│   ├── train_eval.py</a:t>
            </a:r>
            <a:br>
              <a:rPr dirty="0"/>
            </a:br>
            <a:r>
              <a:rPr dirty="0"/>
              <a:t>│   └── generate_plots.py</a:t>
            </a:r>
            <a:br>
              <a:rPr dirty="0"/>
            </a:br>
            <a:r>
              <a:rPr dirty="0"/>
              <a:t>├── </a:t>
            </a:r>
            <a:r>
              <a:rPr dirty="0" err="1"/>
              <a:t>pmml_mini_project.ipynb</a:t>
            </a:r>
            <a:r>
              <a:rPr dirty="0"/>
              <a:t>  # Interactive </a:t>
            </a:r>
            <a:r>
              <a:rPr dirty="0" err="1"/>
              <a:t>Jupyter</a:t>
            </a:r>
            <a:r>
              <a:rPr dirty="0"/>
              <a:t> Notebook</a:t>
            </a:r>
            <a:br>
              <a:rPr dirty="0"/>
            </a:br>
            <a:r>
              <a:rPr dirty="0"/>
              <a:t>├── PMML_Mini_Project_Presentation.pptx # 12 Presentation Slides</a:t>
            </a:r>
            <a:br>
              <a:rPr dirty="0"/>
            </a:br>
            <a:r>
              <a:rPr dirty="0"/>
              <a:t>└── README.md                # Full Documentation Report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5AA0"/>
                </a:solidFill>
              </a:defRPr>
            </a:pPr>
            <a:r>
              <a:t>ACADEMIC REFERENCES &amp; SCIENTIFIC LITERATURE</a:t>
            </a:r>
          </a:p>
          <a:p>
            <a:pPr>
              <a:spcBef>
                <a:spcPts val="300"/>
              </a:spcBef>
              <a:defRPr sz="2200" b="1">
                <a:solidFill>
                  <a:srgbClr val="0F1E41"/>
                </a:solidFill>
              </a:defRPr>
            </a:pPr>
            <a:r>
              <a:t>Referensi Ilmiah &amp; Kepustakaan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607040" y="411480"/>
            <a:ext cx="914400" cy="320040"/>
          </a:xfrm>
          <a:prstGeom prst="roundRect">
            <a:avLst/>
          </a:prstGeom>
          <a:solidFill>
            <a:srgbClr val="EBF0FA"/>
          </a:solidFill>
          <a:ln>
            <a:solidFill>
              <a:srgbClr val="C8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E5AA0"/>
                </a:solidFill>
              </a:defRPr>
            </a:pPr>
            <a:r>
              <a:t>12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C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28655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rtlCol="0" anchor="ctr"/>
          <a:lstStyle/>
          <a:p>
            <a:pPr algn="ctr">
              <a:defRPr sz="1400" b="1">
                <a:solidFill>
                  <a:srgbClr val="0F1E41"/>
                </a:solidFill>
              </a:defRPr>
            </a:pPr>
            <a:r>
              <a:rPr dirty="0"/>
              <a:t>Daftar Pustaka </a:t>
            </a:r>
            <a:r>
              <a:rPr dirty="0" err="1"/>
              <a:t>Akademik</a:t>
            </a:r>
            <a:r>
              <a:rPr dirty="0"/>
              <a:t> (APA / IEEE Standard)</a:t>
            </a:r>
          </a:p>
          <a:p>
            <a:pPr>
              <a:spcBef>
                <a:spcPts val="500"/>
              </a:spcBef>
              <a:defRPr sz="1000" b="1">
                <a:solidFill>
                  <a:srgbClr val="1E5AA0"/>
                </a:solidFill>
              </a:defRPr>
            </a:pPr>
            <a:r>
              <a:rPr dirty="0"/>
              <a:t>[•] </a:t>
            </a:r>
            <a:r>
              <a:rPr dirty="0" err="1"/>
              <a:t>Wolberg</a:t>
            </a:r>
            <a:r>
              <a:rPr dirty="0"/>
              <a:t>, W. H., Street, W. N., &amp; </a:t>
            </a:r>
            <a:r>
              <a:rPr dirty="0" err="1"/>
              <a:t>Mangasarian</a:t>
            </a:r>
            <a:r>
              <a:rPr dirty="0"/>
              <a:t>, O. L. (1995)</a:t>
            </a:r>
          </a:p>
          <a:p>
            <a:pPr>
              <a:spcBef>
                <a:spcPts val="100"/>
              </a:spcBef>
              <a:defRPr sz="950">
                <a:solidFill>
                  <a:srgbClr val="191E28"/>
                </a:solidFill>
              </a:defRPr>
            </a:pPr>
            <a:r>
              <a:rPr dirty="0"/>
              <a:t>     Breast Cancer Wisconsin (Diagnostic) Data Set. UCI Machine Learning Repository. https://doi.org/10.24432/C5DW2B</a:t>
            </a:r>
          </a:p>
          <a:p>
            <a:pPr>
              <a:spcBef>
                <a:spcPts val="500"/>
              </a:spcBef>
              <a:defRPr sz="1000" b="1">
                <a:solidFill>
                  <a:srgbClr val="1E5AA0"/>
                </a:solidFill>
              </a:defRPr>
            </a:pPr>
            <a:r>
              <a:rPr dirty="0"/>
              <a:t>[•] He, K., Zhang, X., Ren, S., &amp; Sun, J. (2016)</a:t>
            </a:r>
          </a:p>
          <a:p>
            <a:pPr>
              <a:spcBef>
                <a:spcPts val="100"/>
              </a:spcBef>
              <a:defRPr sz="950">
                <a:solidFill>
                  <a:srgbClr val="191E28"/>
                </a:solidFill>
              </a:defRPr>
            </a:pPr>
            <a:r>
              <a:rPr dirty="0"/>
              <a:t>     Deep Residual Learning for Image Recognition. In Proceedings of the IEEE Conference on Computer Vision and Pattern Recognition (CVPR), pp. 770-778.</a:t>
            </a:r>
          </a:p>
          <a:p>
            <a:pPr>
              <a:spcBef>
                <a:spcPts val="500"/>
              </a:spcBef>
              <a:defRPr sz="1000" b="1">
                <a:solidFill>
                  <a:srgbClr val="1E5AA0"/>
                </a:solidFill>
              </a:defRPr>
            </a:pPr>
            <a:r>
              <a:rPr dirty="0"/>
              <a:t>[•] Srivastava, N., Hinton, G., </a:t>
            </a:r>
            <a:r>
              <a:rPr dirty="0" err="1"/>
              <a:t>Krizhevsky</a:t>
            </a:r>
            <a:r>
              <a:rPr dirty="0"/>
              <a:t>, A., </a:t>
            </a:r>
            <a:r>
              <a:rPr dirty="0" err="1"/>
              <a:t>Sutskever</a:t>
            </a:r>
            <a:r>
              <a:rPr dirty="0"/>
              <a:t>, I., &amp; </a:t>
            </a:r>
            <a:r>
              <a:rPr dirty="0" err="1"/>
              <a:t>Salakhutdinov</a:t>
            </a:r>
            <a:r>
              <a:rPr dirty="0"/>
              <a:t>, R. (2014)</a:t>
            </a:r>
          </a:p>
          <a:p>
            <a:pPr>
              <a:spcBef>
                <a:spcPts val="100"/>
              </a:spcBef>
              <a:defRPr sz="950">
                <a:solidFill>
                  <a:srgbClr val="191E28"/>
                </a:solidFill>
              </a:defRPr>
            </a:pPr>
            <a:r>
              <a:rPr dirty="0"/>
              <a:t>     Dropout: A Simple Way to Prevent Neural Networks from Overfitting. The Journal of Machine Learning Research (JMLR), 15(1), 1929-1958.</a:t>
            </a:r>
          </a:p>
          <a:p>
            <a:pPr>
              <a:spcBef>
                <a:spcPts val="500"/>
              </a:spcBef>
              <a:defRPr sz="1000" b="1">
                <a:solidFill>
                  <a:srgbClr val="1E5AA0"/>
                </a:solidFill>
              </a:defRPr>
            </a:pPr>
            <a:r>
              <a:rPr dirty="0"/>
              <a:t>[•] </a:t>
            </a:r>
            <a:r>
              <a:rPr dirty="0" err="1"/>
              <a:t>Ioffe</a:t>
            </a:r>
            <a:r>
              <a:rPr dirty="0"/>
              <a:t>, S., &amp; </a:t>
            </a:r>
            <a:r>
              <a:rPr dirty="0" err="1"/>
              <a:t>Szegedy</a:t>
            </a:r>
            <a:r>
              <a:rPr dirty="0"/>
              <a:t>, C. (2015)</a:t>
            </a:r>
          </a:p>
          <a:p>
            <a:pPr>
              <a:spcBef>
                <a:spcPts val="100"/>
              </a:spcBef>
              <a:defRPr sz="950">
                <a:solidFill>
                  <a:srgbClr val="191E28"/>
                </a:solidFill>
              </a:defRPr>
            </a:pPr>
            <a:r>
              <a:rPr dirty="0"/>
              <a:t>     Batch Normalization: Accelerating Deep Network Training by Reducing Internal Covariate Shift. In International Conference on Machine Learning (ICML), pp. 448-456.</a:t>
            </a:r>
          </a:p>
          <a:p>
            <a:pPr>
              <a:spcBef>
                <a:spcPts val="500"/>
              </a:spcBef>
              <a:defRPr sz="1000" b="1">
                <a:solidFill>
                  <a:srgbClr val="1E5AA0"/>
                </a:solidFill>
              </a:defRPr>
            </a:pPr>
            <a:r>
              <a:rPr dirty="0"/>
              <a:t>[•] </a:t>
            </a:r>
            <a:r>
              <a:rPr dirty="0" err="1"/>
              <a:t>Kingma</a:t>
            </a:r>
            <a:r>
              <a:rPr dirty="0"/>
              <a:t>, D. P., &amp; Ba, J. (2014)</a:t>
            </a:r>
          </a:p>
          <a:p>
            <a:pPr>
              <a:spcBef>
                <a:spcPts val="100"/>
              </a:spcBef>
              <a:defRPr sz="950">
                <a:solidFill>
                  <a:srgbClr val="191E28"/>
                </a:solidFill>
              </a:defRPr>
            </a:pPr>
            <a:r>
              <a:rPr dirty="0"/>
              <a:t>     Adam: A Method for Stochastic Optimization. In International Conference on Learning Representations (ICLR). </a:t>
            </a:r>
            <a:r>
              <a:rPr dirty="0" err="1"/>
              <a:t>arXiv</a:t>
            </a:r>
            <a:r>
              <a:rPr dirty="0"/>
              <a:t> preprint arXiv:1412.6980.</a:t>
            </a:r>
          </a:p>
          <a:p>
            <a:pPr>
              <a:spcBef>
                <a:spcPts val="500"/>
              </a:spcBef>
              <a:defRPr sz="1000" b="1">
                <a:solidFill>
                  <a:srgbClr val="1E5AA0"/>
                </a:solidFill>
              </a:defRPr>
            </a:pPr>
            <a:r>
              <a:rPr dirty="0"/>
              <a:t>[•] </a:t>
            </a:r>
            <a:r>
              <a:rPr dirty="0" err="1"/>
              <a:t>Gorishniy</a:t>
            </a:r>
            <a:r>
              <a:rPr dirty="0"/>
              <a:t>, Y., </a:t>
            </a:r>
            <a:r>
              <a:rPr dirty="0" err="1"/>
              <a:t>Rubachev</a:t>
            </a:r>
            <a:r>
              <a:rPr dirty="0"/>
              <a:t>, I., </a:t>
            </a:r>
            <a:r>
              <a:rPr dirty="0" err="1"/>
              <a:t>Khrulkov</a:t>
            </a:r>
            <a:r>
              <a:rPr dirty="0"/>
              <a:t>, V., &amp; </a:t>
            </a:r>
            <a:r>
              <a:rPr dirty="0" err="1"/>
              <a:t>Babenko</a:t>
            </a:r>
            <a:r>
              <a:rPr dirty="0"/>
              <a:t>, A. (2021)</a:t>
            </a:r>
          </a:p>
          <a:p>
            <a:pPr>
              <a:spcBef>
                <a:spcPts val="100"/>
              </a:spcBef>
              <a:defRPr sz="950">
                <a:solidFill>
                  <a:srgbClr val="191E28"/>
                </a:solidFill>
              </a:defRPr>
            </a:pPr>
            <a:r>
              <a:t>     Revisiting Deep Learning Models for Tabular Data. </a:t>
            </a:r>
            <a:r>
              <a:rPr dirty="0"/>
              <a:t>Advances in Neural Information Processing Systems (</a:t>
            </a:r>
            <a:r>
              <a:rPr dirty="0" err="1"/>
              <a:t>NeurIPS</a:t>
            </a:r>
            <a:r>
              <a:rPr dirty="0"/>
              <a:t>), 34, 18932-18943.</a:t>
            </a:r>
          </a:p>
          <a:p>
            <a:pPr>
              <a:spcBef>
                <a:spcPts val="500"/>
              </a:spcBef>
              <a:defRPr sz="1000" b="1">
                <a:solidFill>
                  <a:srgbClr val="1E5AA0"/>
                </a:solidFill>
              </a:defRPr>
            </a:pPr>
            <a:r>
              <a:rPr dirty="0"/>
              <a:t>[•] Chicco, D., &amp; </a:t>
            </a:r>
            <a:r>
              <a:rPr dirty="0" err="1"/>
              <a:t>Jurman</a:t>
            </a:r>
            <a:r>
              <a:rPr dirty="0"/>
              <a:t>, G. (2020)</a:t>
            </a:r>
          </a:p>
          <a:p>
            <a:pPr>
              <a:spcBef>
                <a:spcPts val="100"/>
              </a:spcBef>
              <a:defRPr sz="950">
                <a:solidFill>
                  <a:srgbClr val="191E28"/>
                </a:solidFill>
              </a:defRPr>
            </a:pPr>
            <a:r>
              <a:rPr dirty="0"/>
              <a:t>     The Advantages of the Matthews Correlation Coefficient (MCC) over F1 score and Accuracy in Binary Assessment Evaluation. BMC Genomics, 21(1), 1-13.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2471</Words>
  <Application>Microsoft Office PowerPoint</Application>
  <PresentationFormat>Widescreen</PresentationFormat>
  <Paragraphs>205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Frans Alwan</cp:lastModifiedBy>
  <cp:revision>5</cp:revision>
  <dcterms:created xsi:type="dcterms:W3CDTF">2013-01-27T09:14:16Z</dcterms:created>
  <dcterms:modified xsi:type="dcterms:W3CDTF">2026-10-15T06:15:43Z</dcterms:modified>
  <cp:category/>
</cp:coreProperties>
</file>